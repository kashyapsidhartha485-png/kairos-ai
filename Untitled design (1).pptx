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Instrument Serif" charset="1" panose="0000000000000000000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gamma.app/?utm_source=made-with-gamma" TargetMode="External" Type="http://schemas.openxmlformats.org/officeDocument/2006/relationships/hyperlink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svg" Type="http://schemas.openxmlformats.org/officeDocument/2006/relationships/image"/><Relationship Id="rId11" Target="../media/image14.png" Type="http://schemas.openxmlformats.org/officeDocument/2006/relationships/image"/><Relationship Id="rId12" Target="../media/image15.svg" Type="http://schemas.openxmlformats.org/officeDocument/2006/relationships/image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10.png" Type="http://schemas.openxmlformats.org/officeDocument/2006/relationships/image"/><Relationship Id="rId8" Target="../media/image11.svg" Type="http://schemas.openxmlformats.org/officeDocument/2006/relationships/image"/><Relationship Id="rId9" Target="../media/image1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png" Type="http://schemas.openxmlformats.org/officeDocument/2006/relationships/image"/><Relationship Id="rId4" Target="../media/image1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8.png" Type="http://schemas.openxmlformats.org/officeDocument/2006/relationships/image"/><Relationship Id="rId11" Target="../media/image29.svg" Type="http://schemas.openxmlformats.org/officeDocument/2006/relationships/image"/><Relationship Id="rId12" Target="../media/image30.png" Type="http://schemas.openxmlformats.org/officeDocument/2006/relationships/image"/><Relationship Id="rId13" Target="../media/image31.svg" Type="http://schemas.openxmlformats.org/officeDocument/2006/relationships/image"/><Relationship Id="rId2" Target="../media/image20.png" Type="http://schemas.openxmlformats.org/officeDocument/2006/relationships/image"/><Relationship Id="rId3" Target="../media/image21.svg" Type="http://schemas.openxmlformats.org/officeDocument/2006/relationships/image"/><Relationship Id="rId4" Target="../media/image22.png" Type="http://schemas.openxmlformats.org/officeDocument/2006/relationships/image"/><Relationship Id="rId5" Target="../media/image23.svg" Type="http://schemas.openxmlformats.org/officeDocument/2006/relationships/image"/><Relationship Id="rId6" Target="../media/image24.png" Type="http://schemas.openxmlformats.org/officeDocument/2006/relationships/image"/><Relationship Id="rId7" Target="../media/image25.svg" Type="http://schemas.openxmlformats.org/officeDocument/2006/relationships/image"/><Relationship Id="rId8" Target="../media/image26.png" Type="http://schemas.openxmlformats.org/officeDocument/2006/relationships/image"/><Relationship Id="rId9" Target="../media/image27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png" Type="http://schemas.openxmlformats.org/officeDocument/2006/relationships/image"/><Relationship Id="rId3" Target="../media/image3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3.svg" Type="http://schemas.openxmlformats.org/officeDocument/2006/relationships/image"/><Relationship Id="rId11" Target="../media/image44.png" Type="http://schemas.openxmlformats.org/officeDocument/2006/relationships/image"/><Relationship Id="rId2" Target="../media/image35.png" Type="http://schemas.openxmlformats.org/officeDocument/2006/relationships/image"/><Relationship Id="rId3" Target="../media/image36.png" Type="http://schemas.openxmlformats.org/officeDocument/2006/relationships/image"/><Relationship Id="rId4" Target="../media/image37.svg" Type="http://schemas.openxmlformats.org/officeDocument/2006/relationships/image"/><Relationship Id="rId5" Target="../media/image38.png" Type="http://schemas.openxmlformats.org/officeDocument/2006/relationships/image"/><Relationship Id="rId6" Target="../media/image39.svg" Type="http://schemas.openxmlformats.org/officeDocument/2006/relationships/image"/><Relationship Id="rId7" Target="../media/image40.png" Type="http://schemas.openxmlformats.org/officeDocument/2006/relationships/image"/><Relationship Id="rId8" Target="../media/image41.svg" Type="http://schemas.openxmlformats.org/officeDocument/2006/relationships/image"/><Relationship Id="rId9" Target="../media/image4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EEE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7200900" cy="10287000"/>
            <a:chOff x="0" y="0"/>
            <a:chExt cx="96012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6012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850238" y="3184027"/>
            <a:ext cx="7088238" cy="914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00"/>
              </a:lnSpc>
            </a:pPr>
            <a:r>
              <a:rPr lang="en-US" sz="5500">
                <a:solidFill>
                  <a:srgbClr val="091C5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KAIROS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850238" y="4428534"/>
            <a:ext cx="9445523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200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AI-Powered Emergency Identification, Dispatch &amp; Hospital Routing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850238" y="5201098"/>
            <a:ext cx="9445523" cy="1002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200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DeepStation Google Hackathon · Track: Community / Healthcare Access · Version 2.0 · May 2026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7850238" y="6532064"/>
            <a:ext cx="1831334" cy="532800"/>
            <a:chOff x="0" y="0"/>
            <a:chExt cx="2441778" cy="710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441702" cy="710311"/>
            </a:xfrm>
            <a:custGeom>
              <a:avLst/>
              <a:gdLst/>
              <a:ahLst/>
              <a:cxnLst/>
              <a:rect r="r" b="b" t="t" l="l"/>
              <a:pathLst>
                <a:path h="710311" w="2441702">
                  <a:moveTo>
                    <a:pt x="0" y="272161"/>
                  </a:moveTo>
                  <a:cubicBezTo>
                    <a:pt x="0" y="121920"/>
                    <a:pt x="121920" y="0"/>
                    <a:pt x="272161" y="0"/>
                  </a:cubicBezTo>
                  <a:lnTo>
                    <a:pt x="2169541" y="0"/>
                  </a:lnTo>
                  <a:cubicBezTo>
                    <a:pt x="2319909" y="0"/>
                    <a:pt x="2441702" y="121920"/>
                    <a:pt x="2441702" y="272161"/>
                  </a:cubicBezTo>
                  <a:lnTo>
                    <a:pt x="2441702" y="438150"/>
                  </a:lnTo>
                  <a:cubicBezTo>
                    <a:pt x="2441702" y="588518"/>
                    <a:pt x="2319782" y="710311"/>
                    <a:pt x="2169541" y="710311"/>
                  </a:cubicBezTo>
                  <a:lnTo>
                    <a:pt x="272161" y="710311"/>
                  </a:lnTo>
                  <a:cubicBezTo>
                    <a:pt x="121920" y="710438"/>
                    <a:pt x="0" y="588518"/>
                    <a:pt x="0" y="438150"/>
                  </a:cubicBezTo>
                  <a:close/>
                </a:path>
              </a:pathLst>
            </a:custGeom>
            <a:solidFill>
              <a:srgbClr val="CEE6FD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8020345" y="6540846"/>
            <a:ext cx="1491110" cy="439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1700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BUILT TO WIN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818484" y="6517777"/>
            <a:ext cx="2402681" cy="561384"/>
            <a:chOff x="0" y="0"/>
            <a:chExt cx="3203575" cy="74851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203575" cy="748411"/>
            </a:xfrm>
            <a:custGeom>
              <a:avLst/>
              <a:gdLst/>
              <a:ahLst/>
              <a:cxnLst/>
              <a:rect r="r" b="b" t="t" l="l"/>
              <a:pathLst>
                <a:path h="748411" w="3203575">
                  <a:moveTo>
                    <a:pt x="0" y="278511"/>
                  </a:moveTo>
                  <a:cubicBezTo>
                    <a:pt x="0" y="124587"/>
                    <a:pt x="126365" y="0"/>
                    <a:pt x="282194" y="0"/>
                  </a:cubicBezTo>
                  <a:lnTo>
                    <a:pt x="2921381" y="0"/>
                  </a:lnTo>
                  <a:lnTo>
                    <a:pt x="2921381" y="6350"/>
                  </a:lnTo>
                  <a:lnTo>
                    <a:pt x="2921381" y="0"/>
                  </a:lnTo>
                  <a:cubicBezTo>
                    <a:pt x="3077083" y="0"/>
                    <a:pt x="3203575" y="124587"/>
                    <a:pt x="3203575" y="278511"/>
                  </a:cubicBezTo>
                  <a:lnTo>
                    <a:pt x="3197225" y="278511"/>
                  </a:lnTo>
                  <a:lnTo>
                    <a:pt x="3203575" y="278511"/>
                  </a:lnTo>
                  <a:lnTo>
                    <a:pt x="3203575" y="469900"/>
                  </a:lnTo>
                  <a:lnTo>
                    <a:pt x="3197225" y="469900"/>
                  </a:lnTo>
                  <a:lnTo>
                    <a:pt x="3203575" y="469900"/>
                  </a:lnTo>
                  <a:cubicBezTo>
                    <a:pt x="3203575" y="623824"/>
                    <a:pt x="3077210" y="748411"/>
                    <a:pt x="2921381" y="748411"/>
                  </a:cubicBezTo>
                  <a:lnTo>
                    <a:pt x="2921381" y="742061"/>
                  </a:lnTo>
                  <a:lnTo>
                    <a:pt x="2921381" y="748411"/>
                  </a:lnTo>
                  <a:lnTo>
                    <a:pt x="282194" y="748411"/>
                  </a:lnTo>
                  <a:lnTo>
                    <a:pt x="282194" y="742061"/>
                  </a:lnTo>
                  <a:lnTo>
                    <a:pt x="282194" y="748411"/>
                  </a:lnTo>
                  <a:cubicBezTo>
                    <a:pt x="126365" y="748538"/>
                    <a:pt x="0" y="623824"/>
                    <a:pt x="0" y="469900"/>
                  </a:cubicBezTo>
                  <a:lnTo>
                    <a:pt x="0" y="278511"/>
                  </a:lnTo>
                  <a:lnTo>
                    <a:pt x="6350" y="278511"/>
                  </a:lnTo>
                  <a:lnTo>
                    <a:pt x="0" y="278511"/>
                  </a:lnTo>
                  <a:moveTo>
                    <a:pt x="12700" y="278511"/>
                  </a:moveTo>
                  <a:lnTo>
                    <a:pt x="12700" y="469900"/>
                  </a:lnTo>
                  <a:lnTo>
                    <a:pt x="6350" y="469900"/>
                  </a:lnTo>
                  <a:lnTo>
                    <a:pt x="12700" y="469900"/>
                  </a:lnTo>
                  <a:cubicBezTo>
                    <a:pt x="12700" y="616585"/>
                    <a:pt x="133223" y="735711"/>
                    <a:pt x="282194" y="735711"/>
                  </a:cubicBezTo>
                  <a:lnTo>
                    <a:pt x="2921381" y="735711"/>
                  </a:lnTo>
                  <a:cubicBezTo>
                    <a:pt x="3070225" y="735711"/>
                    <a:pt x="3190875" y="616585"/>
                    <a:pt x="3190875" y="469900"/>
                  </a:cubicBezTo>
                  <a:lnTo>
                    <a:pt x="3190875" y="278511"/>
                  </a:lnTo>
                  <a:cubicBezTo>
                    <a:pt x="3190875" y="131826"/>
                    <a:pt x="3070352" y="12700"/>
                    <a:pt x="2921381" y="12700"/>
                  </a:cubicBezTo>
                  <a:lnTo>
                    <a:pt x="282194" y="12700"/>
                  </a:lnTo>
                  <a:lnTo>
                    <a:pt x="282194" y="6350"/>
                  </a:lnTo>
                  <a:lnTo>
                    <a:pt x="282194" y="12700"/>
                  </a:lnTo>
                  <a:cubicBezTo>
                    <a:pt x="133223" y="12700"/>
                    <a:pt x="12700" y="131826"/>
                    <a:pt x="12700" y="278511"/>
                  </a:cubicBezTo>
                  <a:close/>
                </a:path>
              </a:pathLst>
            </a:custGeom>
            <a:solidFill>
              <a:srgbClr val="84C1FA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0002888" y="6540846"/>
            <a:ext cx="2033883" cy="439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1700">
                <a:solidFill>
                  <a:srgbClr val="84C1FA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EVERY API IS REAL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2353325" y="6517777"/>
            <a:ext cx="3108131" cy="561384"/>
            <a:chOff x="0" y="0"/>
            <a:chExt cx="4144175" cy="74851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144264" cy="748411"/>
            </a:xfrm>
            <a:custGeom>
              <a:avLst/>
              <a:gdLst/>
              <a:ahLst/>
              <a:cxnLst/>
              <a:rect r="r" b="b" t="t" l="l"/>
              <a:pathLst>
                <a:path h="748411" w="4144264">
                  <a:moveTo>
                    <a:pt x="0" y="278511"/>
                  </a:moveTo>
                  <a:cubicBezTo>
                    <a:pt x="0" y="124587"/>
                    <a:pt x="126492" y="0"/>
                    <a:pt x="282448" y="0"/>
                  </a:cubicBezTo>
                  <a:lnTo>
                    <a:pt x="3861816" y="0"/>
                  </a:lnTo>
                  <a:lnTo>
                    <a:pt x="3861816" y="6350"/>
                  </a:lnTo>
                  <a:lnTo>
                    <a:pt x="3861816" y="0"/>
                  </a:lnTo>
                  <a:cubicBezTo>
                    <a:pt x="4017645" y="0"/>
                    <a:pt x="4144264" y="124587"/>
                    <a:pt x="4144264" y="278511"/>
                  </a:cubicBezTo>
                  <a:lnTo>
                    <a:pt x="4137914" y="278511"/>
                  </a:lnTo>
                  <a:lnTo>
                    <a:pt x="4144264" y="278511"/>
                  </a:lnTo>
                  <a:lnTo>
                    <a:pt x="4144264" y="469900"/>
                  </a:lnTo>
                  <a:lnTo>
                    <a:pt x="4137914" y="469900"/>
                  </a:lnTo>
                  <a:lnTo>
                    <a:pt x="4144264" y="469900"/>
                  </a:lnTo>
                  <a:cubicBezTo>
                    <a:pt x="4144264" y="623824"/>
                    <a:pt x="4017772" y="748411"/>
                    <a:pt x="3861816" y="748411"/>
                  </a:cubicBezTo>
                  <a:lnTo>
                    <a:pt x="3861816" y="742061"/>
                  </a:lnTo>
                  <a:lnTo>
                    <a:pt x="3861816" y="748411"/>
                  </a:lnTo>
                  <a:lnTo>
                    <a:pt x="282448" y="748411"/>
                  </a:lnTo>
                  <a:lnTo>
                    <a:pt x="282448" y="742061"/>
                  </a:lnTo>
                  <a:lnTo>
                    <a:pt x="282448" y="748411"/>
                  </a:lnTo>
                  <a:cubicBezTo>
                    <a:pt x="126492" y="748538"/>
                    <a:pt x="0" y="623824"/>
                    <a:pt x="0" y="469900"/>
                  </a:cubicBezTo>
                  <a:lnTo>
                    <a:pt x="0" y="278511"/>
                  </a:lnTo>
                  <a:lnTo>
                    <a:pt x="6350" y="278511"/>
                  </a:lnTo>
                  <a:lnTo>
                    <a:pt x="0" y="278511"/>
                  </a:lnTo>
                  <a:moveTo>
                    <a:pt x="12700" y="278511"/>
                  </a:moveTo>
                  <a:lnTo>
                    <a:pt x="12700" y="469900"/>
                  </a:lnTo>
                  <a:lnTo>
                    <a:pt x="6350" y="469900"/>
                  </a:lnTo>
                  <a:lnTo>
                    <a:pt x="12700" y="469900"/>
                  </a:lnTo>
                  <a:cubicBezTo>
                    <a:pt x="12700" y="616585"/>
                    <a:pt x="133350" y="735711"/>
                    <a:pt x="282448" y="735711"/>
                  </a:cubicBezTo>
                  <a:lnTo>
                    <a:pt x="3861816" y="735711"/>
                  </a:lnTo>
                  <a:cubicBezTo>
                    <a:pt x="4010787" y="735711"/>
                    <a:pt x="4131564" y="616585"/>
                    <a:pt x="4131564" y="469900"/>
                  </a:cubicBezTo>
                  <a:lnTo>
                    <a:pt x="4131564" y="278511"/>
                  </a:lnTo>
                  <a:cubicBezTo>
                    <a:pt x="4131564" y="131826"/>
                    <a:pt x="4010914" y="12700"/>
                    <a:pt x="3861816" y="12700"/>
                  </a:cubicBezTo>
                  <a:lnTo>
                    <a:pt x="282448" y="12700"/>
                  </a:lnTo>
                  <a:lnTo>
                    <a:pt x="282448" y="6350"/>
                  </a:lnTo>
                  <a:lnTo>
                    <a:pt x="282448" y="12700"/>
                  </a:lnTo>
                  <a:cubicBezTo>
                    <a:pt x="133350" y="12700"/>
                    <a:pt x="12700" y="131826"/>
                    <a:pt x="12700" y="278511"/>
                  </a:cubicBezTo>
                  <a:close/>
                </a:path>
              </a:pathLst>
            </a:custGeom>
            <a:solidFill>
              <a:srgbClr val="84C1FA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2537729" y="6540846"/>
            <a:ext cx="2739333" cy="439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1700">
                <a:solidFill>
                  <a:srgbClr val="84C1FA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END-TO-END LIVE DEMO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EEE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58359" y="9688982"/>
            <a:ext cx="2143687" cy="512064"/>
            <a:chOff x="0" y="0"/>
            <a:chExt cx="2858249" cy="682752"/>
          </a:xfrm>
        </p:grpSpPr>
        <p:sp>
          <p:nvSpPr>
            <p:cNvPr name="Freeform 7" id="7" descr="preencoded.png">
              <a:hlinkClick r:id="rId2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58262" cy="682752"/>
            </a:xfrm>
            <a:custGeom>
              <a:avLst/>
              <a:gdLst/>
              <a:ahLst/>
              <a:cxnLst/>
              <a:rect r="r" b="b" t="t" l="l"/>
              <a:pathLst>
                <a:path h="682752" w="2858262">
                  <a:moveTo>
                    <a:pt x="0" y="0"/>
                  </a:moveTo>
                  <a:lnTo>
                    <a:pt x="2858262" y="0"/>
                  </a:lnTo>
                  <a:lnTo>
                    <a:pt x="2858262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087100" y="0"/>
            <a:ext cx="7200900" cy="10287000"/>
            <a:chOff x="0" y="0"/>
            <a:chExt cx="9601200" cy="1371600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6012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744141" y="548430"/>
            <a:ext cx="9941719" cy="1367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</a:pPr>
            <a:r>
              <a:rPr lang="en-US" sz="4100">
                <a:solidFill>
                  <a:srgbClr val="091C5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A Fatal Gap in Indian Emergency Response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744141" y="2154736"/>
            <a:ext cx="9941719" cy="1457620"/>
            <a:chOff x="0" y="0"/>
            <a:chExt cx="13255625" cy="194349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255625" cy="1943481"/>
            </a:xfrm>
            <a:custGeom>
              <a:avLst/>
              <a:gdLst/>
              <a:ahLst/>
              <a:cxnLst/>
              <a:rect r="r" b="b" t="t" l="l"/>
              <a:pathLst>
                <a:path h="1943481" w="13255625">
                  <a:moveTo>
                    <a:pt x="0" y="255143"/>
                  </a:moveTo>
                  <a:cubicBezTo>
                    <a:pt x="0" y="114300"/>
                    <a:pt x="114300" y="0"/>
                    <a:pt x="255143" y="0"/>
                  </a:cubicBezTo>
                  <a:lnTo>
                    <a:pt x="13000482" y="0"/>
                  </a:lnTo>
                  <a:cubicBezTo>
                    <a:pt x="13141452" y="0"/>
                    <a:pt x="13255625" y="114300"/>
                    <a:pt x="13255625" y="255143"/>
                  </a:cubicBezTo>
                  <a:lnTo>
                    <a:pt x="13255625" y="1688338"/>
                  </a:lnTo>
                  <a:cubicBezTo>
                    <a:pt x="13255625" y="1829308"/>
                    <a:pt x="13141325" y="1943481"/>
                    <a:pt x="13000482" y="1943481"/>
                  </a:cubicBezTo>
                  <a:lnTo>
                    <a:pt x="255143" y="1943481"/>
                  </a:lnTo>
                  <a:cubicBezTo>
                    <a:pt x="114300" y="1943481"/>
                    <a:pt x="0" y="1829308"/>
                    <a:pt x="0" y="1688338"/>
                  </a:cubicBezTo>
                  <a:close/>
                </a:path>
              </a:pathLst>
            </a:custGeom>
            <a:solidFill>
              <a:srgbClr val="CEE6FD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956672" y="2348208"/>
            <a:ext cx="2658066" cy="3607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0"/>
              </a:lnSpc>
            </a:pPr>
            <a:r>
              <a:rPr lang="en-US" sz="2000">
                <a:solidFill>
                  <a:srgbClr val="000000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🚨</a:t>
            </a:r>
            <a:r>
              <a:rPr lang="en-US" sz="2000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 Unknown Identity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56672" y="2756897"/>
            <a:ext cx="9516666" cy="642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0"/>
              </a:lnSpc>
            </a:pPr>
            <a:r>
              <a:rPr lang="en-US" sz="1600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Unconscious victims can't speak. ER doctors waste </a:t>
            </a:r>
            <a:r>
              <a:rPr lang="en-US" sz="1600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20+ minutes</a:t>
            </a:r>
            <a:r>
              <a:rPr lang="en-US" sz="1600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 finding blood group, allergies, and emergency contacts.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744141" y="3771748"/>
            <a:ext cx="9941719" cy="1457620"/>
            <a:chOff x="0" y="0"/>
            <a:chExt cx="13255625" cy="194349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3255625" cy="1943481"/>
            </a:xfrm>
            <a:custGeom>
              <a:avLst/>
              <a:gdLst/>
              <a:ahLst/>
              <a:cxnLst/>
              <a:rect r="r" b="b" t="t" l="l"/>
              <a:pathLst>
                <a:path h="1943481" w="13255625">
                  <a:moveTo>
                    <a:pt x="0" y="255143"/>
                  </a:moveTo>
                  <a:cubicBezTo>
                    <a:pt x="0" y="114300"/>
                    <a:pt x="114300" y="0"/>
                    <a:pt x="255143" y="0"/>
                  </a:cubicBezTo>
                  <a:lnTo>
                    <a:pt x="13000482" y="0"/>
                  </a:lnTo>
                  <a:cubicBezTo>
                    <a:pt x="13141452" y="0"/>
                    <a:pt x="13255625" y="114300"/>
                    <a:pt x="13255625" y="255143"/>
                  </a:cubicBezTo>
                  <a:lnTo>
                    <a:pt x="13255625" y="1688338"/>
                  </a:lnTo>
                  <a:cubicBezTo>
                    <a:pt x="13255625" y="1829308"/>
                    <a:pt x="13141325" y="1943481"/>
                    <a:pt x="13000482" y="1943481"/>
                  </a:cubicBezTo>
                  <a:lnTo>
                    <a:pt x="255143" y="1943481"/>
                  </a:lnTo>
                  <a:cubicBezTo>
                    <a:pt x="114300" y="1943481"/>
                    <a:pt x="0" y="1829308"/>
                    <a:pt x="0" y="1688338"/>
                  </a:cubicBezTo>
                  <a:close/>
                </a:path>
              </a:pathLst>
            </a:custGeom>
            <a:solidFill>
              <a:srgbClr val="CEE6FD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956672" y="3965229"/>
            <a:ext cx="2658066" cy="3607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0"/>
              </a:lnSpc>
            </a:pPr>
            <a:r>
              <a:rPr lang="en-US" sz="2000">
                <a:solidFill>
                  <a:srgbClr val="000000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📊</a:t>
            </a:r>
            <a:r>
              <a:rPr lang="en-US" sz="2000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 Stale Bed Data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56672" y="4373909"/>
            <a:ext cx="9516666" cy="642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0"/>
              </a:lnSpc>
            </a:pPr>
            <a:r>
              <a:rPr lang="en-US" sz="1600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Hospital dashboards show beds taken </a:t>
            </a:r>
            <a:r>
              <a:rPr lang="en-US" sz="1600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40 minutes ago</a:t>
            </a:r>
            <a:r>
              <a:rPr lang="en-US" sz="1600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. Ambulances arrive, find no room, and turn back.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744141" y="5388769"/>
            <a:ext cx="9941719" cy="1457620"/>
            <a:chOff x="0" y="0"/>
            <a:chExt cx="13255625" cy="194349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3255625" cy="1943481"/>
            </a:xfrm>
            <a:custGeom>
              <a:avLst/>
              <a:gdLst/>
              <a:ahLst/>
              <a:cxnLst/>
              <a:rect r="r" b="b" t="t" l="l"/>
              <a:pathLst>
                <a:path h="1943481" w="13255625">
                  <a:moveTo>
                    <a:pt x="0" y="255143"/>
                  </a:moveTo>
                  <a:cubicBezTo>
                    <a:pt x="0" y="114300"/>
                    <a:pt x="114300" y="0"/>
                    <a:pt x="255143" y="0"/>
                  </a:cubicBezTo>
                  <a:lnTo>
                    <a:pt x="13000482" y="0"/>
                  </a:lnTo>
                  <a:cubicBezTo>
                    <a:pt x="13141452" y="0"/>
                    <a:pt x="13255625" y="114300"/>
                    <a:pt x="13255625" y="255143"/>
                  </a:cubicBezTo>
                  <a:lnTo>
                    <a:pt x="13255625" y="1688338"/>
                  </a:lnTo>
                  <a:cubicBezTo>
                    <a:pt x="13255625" y="1829308"/>
                    <a:pt x="13141325" y="1943481"/>
                    <a:pt x="13000482" y="1943481"/>
                  </a:cubicBezTo>
                  <a:lnTo>
                    <a:pt x="255143" y="1943481"/>
                  </a:lnTo>
                  <a:cubicBezTo>
                    <a:pt x="114300" y="1943481"/>
                    <a:pt x="0" y="1829308"/>
                    <a:pt x="0" y="1688338"/>
                  </a:cubicBezTo>
                  <a:close/>
                </a:path>
              </a:pathLst>
            </a:custGeom>
            <a:solidFill>
              <a:srgbClr val="CEE6FD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956672" y="5582250"/>
            <a:ext cx="2881017" cy="3607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0"/>
              </a:lnSpc>
            </a:pPr>
            <a:r>
              <a:rPr lang="en-US" sz="2000">
                <a:solidFill>
                  <a:srgbClr val="000000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🔗</a:t>
            </a:r>
            <a:r>
              <a:rPr lang="en-US" sz="2000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 No Full-Loop Owner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56672" y="5990930"/>
            <a:ext cx="9516666" cy="642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0"/>
              </a:lnSpc>
            </a:pPr>
            <a:r>
              <a:rPr lang="en-US" sz="1600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Practo handles discovery. Stanplus handles dispatch. Nobody owns </a:t>
            </a:r>
            <a:r>
              <a:rPr lang="en-US" sz="1600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end-to-end routing</a:t>
            </a:r>
            <a:r>
              <a:rPr lang="en-US" sz="1600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 of a critical patient.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744141" y="7005790"/>
            <a:ext cx="9941719" cy="1457620"/>
            <a:chOff x="0" y="0"/>
            <a:chExt cx="13255625" cy="194349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3255625" cy="1943481"/>
            </a:xfrm>
            <a:custGeom>
              <a:avLst/>
              <a:gdLst/>
              <a:ahLst/>
              <a:cxnLst/>
              <a:rect r="r" b="b" t="t" l="l"/>
              <a:pathLst>
                <a:path h="1943481" w="13255625">
                  <a:moveTo>
                    <a:pt x="0" y="255143"/>
                  </a:moveTo>
                  <a:cubicBezTo>
                    <a:pt x="0" y="114300"/>
                    <a:pt x="114300" y="0"/>
                    <a:pt x="255143" y="0"/>
                  </a:cubicBezTo>
                  <a:lnTo>
                    <a:pt x="13000482" y="0"/>
                  </a:lnTo>
                  <a:cubicBezTo>
                    <a:pt x="13141452" y="0"/>
                    <a:pt x="13255625" y="114300"/>
                    <a:pt x="13255625" y="255143"/>
                  </a:cubicBezTo>
                  <a:lnTo>
                    <a:pt x="13255625" y="1688338"/>
                  </a:lnTo>
                  <a:cubicBezTo>
                    <a:pt x="13255625" y="1829308"/>
                    <a:pt x="13141325" y="1943481"/>
                    <a:pt x="13000482" y="1943481"/>
                  </a:cubicBezTo>
                  <a:lnTo>
                    <a:pt x="255143" y="1943481"/>
                  </a:lnTo>
                  <a:cubicBezTo>
                    <a:pt x="114300" y="1943481"/>
                    <a:pt x="0" y="1829308"/>
                    <a:pt x="0" y="1688338"/>
                  </a:cubicBezTo>
                  <a:close/>
                </a:path>
              </a:pathLst>
            </a:custGeom>
            <a:solidFill>
              <a:srgbClr val="CEE6FD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956672" y="7199262"/>
            <a:ext cx="2691260" cy="3607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0"/>
              </a:lnSpc>
            </a:pPr>
            <a:r>
              <a:rPr lang="en-US" sz="2000">
                <a:solidFill>
                  <a:srgbClr val="000000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📵</a:t>
            </a:r>
            <a:r>
              <a:rPr lang="en-US" sz="2000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 Family Left in Dark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56672" y="7607941"/>
            <a:ext cx="9516666" cy="642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0"/>
              </a:lnSpc>
            </a:pPr>
            <a:r>
              <a:rPr lang="en-US" sz="1600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Emergency contacts are </a:t>
            </a:r>
            <a:r>
              <a:rPr lang="en-US" sz="1600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never automatically notified</a:t>
            </a:r>
            <a:r>
              <a:rPr lang="en-US" sz="1600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. Family finds out by accident — or hours later.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744141" y="8642747"/>
            <a:ext cx="9941719" cy="1057570"/>
            <a:chOff x="0" y="0"/>
            <a:chExt cx="13255625" cy="1410094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3255625" cy="1410081"/>
            </a:xfrm>
            <a:custGeom>
              <a:avLst/>
              <a:gdLst/>
              <a:ahLst/>
              <a:cxnLst/>
              <a:rect r="r" b="b" t="t" l="l"/>
              <a:pathLst>
                <a:path h="1410081" w="13255625">
                  <a:moveTo>
                    <a:pt x="0" y="255143"/>
                  </a:moveTo>
                  <a:cubicBezTo>
                    <a:pt x="0" y="114300"/>
                    <a:pt x="114300" y="0"/>
                    <a:pt x="255143" y="0"/>
                  </a:cubicBezTo>
                  <a:lnTo>
                    <a:pt x="13000482" y="0"/>
                  </a:lnTo>
                  <a:cubicBezTo>
                    <a:pt x="13141452" y="0"/>
                    <a:pt x="13255625" y="114300"/>
                    <a:pt x="13255625" y="255143"/>
                  </a:cubicBezTo>
                  <a:lnTo>
                    <a:pt x="13255625" y="1154938"/>
                  </a:lnTo>
                  <a:cubicBezTo>
                    <a:pt x="13255625" y="1295908"/>
                    <a:pt x="13141325" y="1410081"/>
                    <a:pt x="13000482" y="1410081"/>
                  </a:cubicBezTo>
                  <a:lnTo>
                    <a:pt x="255143" y="1410081"/>
                  </a:lnTo>
                  <a:cubicBezTo>
                    <a:pt x="114300" y="1410081"/>
                    <a:pt x="0" y="1295908"/>
                    <a:pt x="0" y="1154938"/>
                  </a:cubicBezTo>
                  <a:close/>
                </a:path>
              </a:pathLst>
            </a:custGeom>
            <a:solidFill>
              <a:srgbClr val="FFB3B4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956672" y="8941441"/>
            <a:ext cx="265805" cy="212522"/>
            <a:chOff x="0" y="0"/>
            <a:chExt cx="354406" cy="283362"/>
          </a:xfrm>
        </p:grpSpPr>
        <p:sp>
          <p:nvSpPr>
            <p:cNvPr name="Freeform 30" id="30" descr="preencoded.png"/>
            <p:cNvSpPr/>
            <p:nvPr/>
          </p:nvSpPr>
          <p:spPr>
            <a:xfrm flipH="false" flipV="false" rot="0">
              <a:off x="0" y="0"/>
              <a:ext cx="354457" cy="283337"/>
            </a:xfrm>
            <a:custGeom>
              <a:avLst/>
              <a:gdLst/>
              <a:ahLst/>
              <a:cxnLst/>
              <a:rect r="r" b="b" t="t" l="l"/>
              <a:pathLst>
                <a:path h="283337" w="354457">
                  <a:moveTo>
                    <a:pt x="0" y="0"/>
                  </a:moveTo>
                  <a:lnTo>
                    <a:pt x="354457" y="0"/>
                  </a:lnTo>
                  <a:lnTo>
                    <a:pt x="354457" y="283337"/>
                  </a:lnTo>
                  <a:lnTo>
                    <a:pt x="0" y="2833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881" t="0" r="-867" b="-8"/>
              </a:stretch>
            </a:blip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1434998" y="8807653"/>
            <a:ext cx="9038330" cy="642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0"/>
              </a:lnSpc>
            </a:pPr>
            <a:r>
              <a:rPr lang="en-US" sz="1600">
                <a:solidFill>
                  <a:srgbClr val="000000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The information needed to save lives exists somewhere — it just cannot be reached fast enough.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EEE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45804" y="745331"/>
            <a:ext cx="10183711" cy="873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00"/>
              </a:lnSpc>
            </a:pPr>
            <a:r>
              <a:rPr lang="en-US" sz="5299">
                <a:solidFill>
                  <a:srgbClr val="091C5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KAIROS: One Autonomous Loop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45804" y="2047875"/>
            <a:ext cx="16396392" cy="507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2100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From a bystander's photo to a briefed ER team — entirely AI-driven, before the ambulance arrives.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208332" y="2845594"/>
            <a:ext cx="15871184" cy="5955506"/>
            <a:chOff x="0" y="0"/>
            <a:chExt cx="21161578" cy="7940675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21161629" cy="7940675"/>
            </a:xfrm>
            <a:custGeom>
              <a:avLst/>
              <a:gdLst/>
              <a:ahLst/>
              <a:cxnLst/>
              <a:rect r="r" b="b" t="t" l="l"/>
              <a:pathLst>
                <a:path h="7940675" w="21161629">
                  <a:moveTo>
                    <a:pt x="0" y="0"/>
                  </a:moveTo>
                  <a:lnTo>
                    <a:pt x="21161629" y="0"/>
                  </a:lnTo>
                  <a:lnTo>
                    <a:pt x="21161629" y="7940675"/>
                  </a:lnTo>
                  <a:lnTo>
                    <a:pt x="0" y="79406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2" t="0" r="-11" b="0"/>
              </a:stretch>
            </a:blipFill>
          </p:spPr>
        </p:sp>
      </p:grpSp>
      <p:sp>
        <p:nvSpPr>
          <p:cNvPr name="Freeform 10" id="10" descr="preencoded.png"/>
          <p:cNvSpPr/>
          <p:nvPr/>
        </p:nvSpPr>
        <p:spPr>
          <a:xfrm flipH="false" flipV="false" rot="0">
            <a:off x="14762416" y="4362564"/>
            <a:ext cx="819798" cy="819798"/>
          </a:xfrm>
          <a:custGeom>
            <a:avLst/>
            <a:gdLst/>
            <a:ahLst/>
            <a:cxnLst/>
            <a:rect r="r" b="b" t="t" l="l"/>
            <a:pathLst>
              <a:path h="819798" w="819798">
                <a:moveTo>
                  <a:pt x="0" y="0"/>
                </a:moveTo>
                <a:lnTo>
                  <a:pt x="819798" y="0"/>
                </a:lnTo>
                <a:lnTo>
                  <a:pt x="819798" y="819798"/>
                </a:lnTo>
                <a:lnTo>
                  <a:pt x="0" y="81979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17816" r="0" b="-17816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4032020" y="7105726"/>
            <a:ext cx="2393813" cy="941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2900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Brief ER Team</a:t>
            </a:r>
          </a:p>
        </p:txBody>
      </p:sp>
      <p:sp>
        <p:nvSpPr>
          <p:cNvPr name="Freeform 12" id="12" descr="preencoded.png"/>
          <p:cNvSpPr/>
          <p:nvPr/>
        </p:nvSpPr>
        <p:spPr>
          <a:xfrm flipH="false" flipV="false" rot="0">
            <a:off x="11761184" y="4364107"/>
            <a:ext cx="819798" cy="819798"/>
          </a:xfrm>
          <a:custGeom>
            <a:avLst/>
            <a:gdLst/>
            <a:ahLst/>
            <a:cxnLst/>
            <a:rect r="r" b="b" t="t" l="l"/>
            <a:pathLst>
              <a:path h="819798" w="819798">
                <a:moveTo>
                  <a:pt x="0" y="0"/>
                </a:moveTo>
                <a:lnTo>
                  <a:pt x="819798" y="0"/>
                </a:lnTo>
                <a:lnTo>
                  <a:pt x="819798" y="819798"/>
                </a:lnTo>
                <a:lnTo>
                  <a:pt x="0" y="81979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11494" t="0" r="-11494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1015167" y="7105726"/>
            <a:ext cx="2393813" cy="941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2900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Select Hospital</a:t>
            </a:r>
          </a:p>
        </p:txBody>
      </p:sp>
      <p:sp>
        <p:nvSpPr>
          <p:cNvPr name="Freeform 14" id="14" descr="preencoded.png"/>
          <p:cNvSpPr/>
          <p:nvPr/>
        </p:nvSpPr>
        <p:spPr>
          <a:xfrm flipH="false" flipV="false" rot="0">
            <a:off x="8760714" y="4364107"/>
            <a:ext cx="819798" cy="819798"/>
          </a:xfrm>
          <a:custGeom>
            <a:avLst/>
            <a:gdLst/>
            <a:ahLst/>
            <a:cxnLst/>
            <a:rect r="r" b="b" t="t" l="l"/>
            <a:pathLst>
              <a:path h="819798" w="819798">
                <a:moveTo>
                  <a:pt x="0" y="0"/>
                </a:moveTo>
                <a:lnTo>
                  <a:pt x="819798" y="0"/>
                </a:lnTo>
                <a:lnTo>
                  <a:pt x="819798" y="819798"/>
                </a:lnTo>
                <a:lnTo>
                  <a:pt x="0" y="81979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6896" t="0" r="-6895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8014706" y="7336298"/>
            <a:ext cx="2393813" cy="480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2900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Verify Beds</a:t>
            </a:r>
          </a:p>
        </p:txBody>
      </p:sp>
      <p:sp>
        <p:nvSpPr>
          <p:cNvPr name="Freeform 16" id="16" descr="preencoded.png"/>
          <p:cNvSpPr/>
          <p:nvPr/>
        </p:nvSpPr>
        <p:spPr>
          <a:xfrm flipH="false" flipV="false" rot="0">
            <a:off x="5760253" y="4364107"/>
            <a:ext cx="819798" cy="819798"/>
          </a:xfrm>
          <a:custGeom>
            <a:avLst/>
            <a:gdLst/>
            <a:ahLst/>
            <a:cxnLst/>
            <a:rect r="r" b="b" t="t" l="l"/>
            <a:pathLst>
              <a:path h="819798" w="819798">
                <a:moveTo>
                  <a:pt x="0" y="0"/>
                </a:moveTo>
                <a:lnTo>
                  <a:pt x="819798" y="0"/>
                </a:lnTo>
                <a:lnTo>
                  <a:pt x="819798" y="819798"/>
                </a:lnTo>
                <a:lnTo>
                  <a:pt x="0" y="81979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7470" t="0" r="-7471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5014236" y="7105726"/>
            <a:ext cx="2393813" cy="941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2900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Dispatch Ambulance</a:t>
            </a:r>
          </a:p>
        </p:txBody>
      </p:sp>
      <p:sp>
        <p:nvSpPr>
          <p:cNvPr name="Freeform 18" id="18" descr="preencoded.png"/>
          <p:cNvSpPr/>
          <p:nvPr/>
        </p:nvSpPr>
        <p:spPr>
          <a:xfrm flipH="false" flipV="false" rot="0">
            <a:off x="2743400" y="4364107"/>
            <a:ext cx="819798" cy="819798"/>
          </a:xfrm>
          <a:custGeom>
            <a:avLst/>
            <a:gdLst/>
            <a:ahLst/>
            <a:cxnLst/>
            <a:rect r="r" b="b" t="t" l="l"/>
            <a:pathLst>
              <a:path h="819798" w="819798">
                <a:moveTo>
                  <a:pt x="0" y="0"/>
                </a:moveTo>
                <a:lnTo>
                  <a:pt x="819798" y="0"/>
                </a:lnTo>
                <a:lnTo>
                  <a:pt x="819798" y="819798"/>
                </a:lnTo>
                <a:lnTo>
                  <a:pt x="0" y="81979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948196" y="7105726"/>
            <a:ext cx="2393813" cy="941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2900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Identify Victim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45804" y="9005145"/>
            <a:ext cx="16396392" cy="507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2100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Every stage runs on real APIs. Every decision is made by a real AI agent. No chatbot. No lookups. </a:t>
            </a:r>
            <a:r>
              <a:rPr lang="en-US" sz="2100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Autonomous action.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EEE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1597819"/>
            <a:ext cx="12937036" cy="914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00"/>
              </a:lnSpc>
            </a:pPr>
            <a:r>
              <a:rPr lang="en-US" sz="5500">
                <a:solidFill>
                  <a:srgbClr val="091C5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Three Dashboards. One Shared Reality.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92238" y="3079404"/>
            <a:ext cx="3014958" cy="1863328"/>
            <a:chOff x="0" y="0"/>
            <a:chExt cx="4019944" cy="2484438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4019931" cy="2484374"/>
            </a:xfrm>
            <a:custGeom>
              <a:avLst/>
              <a:gdLst/>
              <a:ahLst/>
              <a:cxnLst/>
              <a:rect r="r" b="b" t="t" l="l"/>
              <a:pathLst>
                <a:path h="2484374" w="4019931">
                  <a:moveTo>
                    <a:pt x="0" y="0"/>
                  </a:moveTo>
                  <a:lnTo>
                    <a:pt x="4019931" y="0"/>
                  </a:lnTo>
                  <a:lnTo>
                    <a:pt x="4019931" y="2484374"/>
                  </a:lnTo>
                  <a:lnTo>
                    <a:pt x="0" y="24843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1" r="0" b="-24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992238" y="5287566"/>
            <a:ext cx="5073406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9"/>
              </a:lnSpc>
            </a:pPr>
            <a:r>
              <a:rPr lang="en-US" sz="2700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Citizen / Bystander Dashboard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2238" y="5814860"/>
            <a:ext cx="5198269" cy="28455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200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PWA opens directly to </a:t>
            </a:r>
            <a:r>
              <a:rPr lang="en-US" sz="2200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/emergency</a:t>
            </a:r>
            <a:r>
              <a:rPr lang="en-US" sz="2200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. Rear camera fires with 3-second auto-capture. Real-time status feed with zero silent moments. Live ambulance tracking map. Gemini first-aid guidance.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544866" y="3079404"/>
            <a:ext cx="3014958" cy="1863328"/>
            <a:chOff x="0" y="0"/>
            <a:chExt cx="4019944" cy="2484438"/>
          </a:xfrm>
        </p:grpSpPr>
        <p:sp>
          <p:nvSpPr>
            <p:cNvPr name="Freeform 12" id="12" descr="preencoded.png"/>
            <p:cNvSpPr/>
            <p:nvPr/>
          </p:nvSpPr>
          <p:spPr>
            <a:xfrm flipH="false" flipV="false" rot="0">
              <a:off x="0" y="0"/>
              <a:ext cx="4019931" cy="2484374"/>
            </a:xfrm>
            <a:custGeom>
              <a:avLst/>
              <a:gdLst/>
              <a:ahLst/>
              <a:cxnLst/>
              <a:rect r="r" b="b" t="t" l="l"/>
              <a:pathLst>
                <a:path h="2484374" w="4019931">
                  <a:moveTo>
                    <a:pt x="0" y="0"/>
                  </a:moveTo>
                  <a:lnTo>
                    <a:pt x="4019931" y="0"/>
                  </a:lnTo>
                  <a:lnTo>
                    <a:pt x="4019931" y="2484374"/>
                  </a:lnTo>
                  <a:lnTo>
                    <a:pt x="0" y="24843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1" r="0" b="-24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6544866" y="5287566"/>
            <a:ext cx="4917577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9"/>
              </a:lnSpc>
            </a:pPr>
            <a:r>
              <a:rPr lang="en-US" sz="2700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Ambulance Driver Dashboard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544866" y="5814860"/>
            <a:ext cx="5198269" cy="2817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200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Receives dispatch via Telegram with full medical card. Gemini predicts what to prepare en route. Driver drives — the AI handles all hospital coordination in parallel. Never involved in routing decisions.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2097493" y="3079404"/>
            <a:ext cx="3014958" cy="1863328"/>
            <a:chOff x="0" y="0"/>
            <a:chExt cx="4019944" cy="2484438"/>
          </a:xfrm>
        </p:grpSpPr>
        <p:sp>
          <p:nvSpPr>
            <p:cNvPr name="Freeform 16" id="16" descr="preencoded.png"/>
            <p:cNvSpPr/>
            <p:nvPr/>
          </p:nvSpPr>
          <p:spPr>
            <a:xfrm flipH="false" flipV="false" rot="0">
              <a:off x="0" y="0"/>
              <a:ext cx="4019931" cy="2484374"/>
            </a:xfrm>
            <a:custGeom>
              <a:avLst/>
              <a:gdLst/>
              <a:ahLst/>
              <a:cxnLst/>
              <a:rect r="r" b="b" t="t" l="l"/>
              <a:pathLst>
                <a:path h="2484374" w="4019931">
                  <a:moveTo>
                    <a:pt x="0" y="0"/>
                  </a:moveTo>
                  <a:lnTo>
                    <a:pt x="4019931" y="0"/>
                  </a:lnTo>
                  <a:lnTo>
                    <a:pt x="4019931" y="2484374"/>
                  </a:lnTo>
                  <a:lnTo>
                    <a:pt x="0" y="24843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21" r="0" b="-24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2097493" y="5287566"/>
            <a:ext cx="3807466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9"/>
              </a:lnSpc>
            </a:pPr>
            <a:r>
              <a:rPr lang="en-US" sz="2700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Hospital ER Dashboard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097493" y="5814860"/>
            <a:ext cx="5198269" cy="2817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200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Full medical card and live condition arrive </a:t>
            </a:r>
            <a:r>
              <a:rPr lang="en-US" sz="2200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before</a:t>
            </a:r>
            <a:r>
              <a:rPr lang="en-US" sz="2200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 the ambulance. Audio alert + red screen flash + SMS to charge nurse if unacknowledged within 2 minutes. Live ambulance marker on Google Maps.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EEE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61282" y="774202"/>
            <a:ext cx="12232186" cy="886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00"/>
              </a:lnSpc>
            </a:pPr>
            <a:r>
              <a:rPr lang="en-US" sz="5400">
                <a:solidFill>
                  <a:srgbClr val="091C5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Face Recognition in Under 10 Seconds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61282" y="2359371"/>
            <a:ext cx="7847705" cy="4446984"/>
            <a:chOff x="0" y="0"/>
            <a:chExt cx="10463606" cy="5929312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10463657" cy="5929249"/>
            </a:xfrm>
            <a:custGeom>
              <a:avLst/>
              <a:gdLst/>
              <a:ahLst/>
              <a:cxnLst/>
              <a:rect r="r" b="b" t="t" l="l"/>
              <a:pathLst>
                <a:path h="5929249" w="10463657">
                  <a:moveTo>
                    <a:pt x="0" y="0"/>
                  </a:moveTo>
                  <a:lnTo>
                    <a:pt x="10463657" y="0"/>
                  </a:lnTo>
                  <a:lnTo>
                    <a:pt x="10463657" y="5929249"/>
                  </a:lnTo>
                  <a:lnTo>
                    <a:pt x="0" y="59292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7" r="0" b="-8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9488538" y="3373784"/>
            <a:ext cx="5185772" cy="4385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2700">
                <a:solidFill>
                  <a:srgbClr val="091C5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Why Local Model, Not Cloud API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488538" y="3992613"/>
            <a:ext cx="7847705" cy="1816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9"/>
              </a:lnSpc>
            </a:pPr>
            <a:r>
              <a:rPr lang="en-US" sz="2100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Google Vision detects faces — it cannot match against a custom database. AWS Rekognition adds setup risk. </a:t>
            </a:r>
            <a:r>
              <a:rPr lang="en-US" sz="2100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DeepFace + ArcFace</a:t>
            </a:r>
            <a:r>
              <a:rPr lang="en-US" sz="2100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 runs locally: free, no latency, works offline, 99.4% benchmark accuracy.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42232" y="7385895"/>
            <a:ext cx="5315845" cy="2117379"/>
            <a:chOff x="0" y="0"/>
            <a:chExt cx="7087794" cy="282317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25400" y="25400"/>
              <a:ext cx="7036943" cy="2772283"/>
            </a:xfrm>
            <a:custGeom>
              <a:avLst/>
              <a:gdLst/>
              <a:ahLst/>
              <a:cxnLst/>
              <a:rect r="r" b="b" t="t" l="l"/>
              <a:pathLst>
                <a:path h="2772283" w="7036943">
                  <a:moveTo>
                    <a:pt x="0" y="329565"/>
                  </a:moveTo>
                  <a:cubicBezTo>
                    <a:pt x="0" y="147574"/>
                    <a:pt x="149225" y="0"/>
                    <a:pt x="333248" y="0"/>
                  </a:cubicBezTo>
                  <a:lnTo>
                    <a:pt x="6703695" y="0"/>
                  </a:lnTo>
                  <a:cubicBezTo>
                    <a:pt x="6887718" y="0"/>
                    <a:pt x="7036943" y="147574"/>
                    <a:pt x="7036943" y="329565"/>
                  </a:cubicBezTo>
                  <a:lnTo>
                    <a:pt x="7036943" y="2442718"/>
                  </a:lnTo>
                  <a:cubicBezTo>
                    <a:pt x="7036943" y="2624709"/>
                    <a:pt x="6887718" y="2772283"/>
                    <a:pt x="6703695" y="2772283"/>
                  </a:cubicBezTo>
                  <a:lnTo>
                    <a:pt x="333248" y="2772283"/>
                  </a:lnTo>
                  <a:cubicBezTo>
                    <a:pt x="149225" y="2772410"/>
                    <a:pt x="0" y="2624836"/>
                    <a:pt x="0" y="244271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087743" cy="2823083"/>
            </a:xfrm>
            <a:custGeom>
              <a:avLst/>
              <a:gdLst/>
              <a:ahLst/>
              <a:cxnLst/>
              <a:rect r="r" b="b" t="t" l="l"/>
              <a:pathLst>
                <a:path h="2823083" w="7087743">
                  <a:moveTo>
                    <a:pt x="0" y="354965"/>
                  </a:moveTo>
                  <a:cubicBezTo>
                    <a:pt x="0" y="158623"/>
                    <a:pt x="160782" y="0"/>
                    <a:pt x="358648" y="0"/>
                  </a:cubicBezTo>
                  <a:lnTo>
                    <a:pt x="6729095" y="0"/>
                  </a:lnTo>
                  <a:lnTo>
                    <a:pt x="6729095" y="25400"/>
                  </a:lnTo>
                  <a:lnTo>
                    <a:pt x="6729095" y="0"/>
                  </a:lnTo>
                  <a:cubicBezTo>
                    <a:pt x="6926961" y="0"/>
                    <a:pt x="7087743" y="158623"/>
                    <a:pt x="7087743" y="354965"/>
                  </a:cubicBezTo>
                  <a:lnTo>
                    <a:pt x="7062343" y="354965"/>
                  </a:lnTo>
                  <a:lnTo>
                    <a:pt x="7087743" y="354965"/>
                  </a:lnTo>
                  <a:lnTo>
                    <a:pt x="7087743" y="2468118"/>
                  </a:lnTo>
                  <a:lnTo>
                    <a:pt x="7062343" y="2468118"/>
                  </a:lnTo>
                  <a:lnTo>
                    <a:pt x="7087743" y="2468118"/>
                  </a:lnTo>
                  <a:cubicBezTo>
                    <a:pt x="7087743" y="2664460"/>
                    <a:pt x="6926961" y="2823083"/>
                    <a:pt x="6729095" y="2823083"/>
                  </a:cubicBezTo>
                  <a:lnTo>
                    <a:pt x="6729095" y="2797683"/>
                  </a:lnTo>
                  <a:lnTo>
                    <a:pt x="6729095" y="2823083"/>
                  </a:lnTo>
                  <a:lnTo>
                    <a:pt x="358648" y="2823083"/>
                  </a:lnTo>
                  <a:lnTo>
                    <a:pt x="358648" y="2797683"/>
                  </a:lnTo>
                  <a:lnTo>
                    <a:pt x="358648" y="2823083"/>
                  </a:lnTo>
                  <a:cubicBezTo>
                    <a:pt x="160782" y="2823210"/>
                    <a:pt x="0" y="2664460"/>
                    <a:pt x="0" y="2468118"/>
                  </a:cubicBezTo>
                  <a:lnTo>
                    <a:pt x="0" y="354965"/>
                  </a:lnTo>
                  <a:lnTo>
                    <a:pt x="25400" y="354965"/>
                  </a:lnTo>
                  <a:lnTo>
                    <a:pt x="0" y="354965"/>
                  </a:lnTo>
                  <a:moveTo>
                    <a:pt x="50800" y="354965"/>
                  </a:moveTo>
                  <a:lnTo>
                    <a:pt x="50800" y="2468118"/>
                  </a:lnTo>
                  <a:lnTo>
                    <a:pt x="25400" y="2468118"/>
                  </a:lnTo>
                  <a:lnTo>
                    <a:pt x="50800" y="2468118"/>
                  </a:lnTo>
                  <a:cubicBezTo>
                    <a:pt x="50800" y="2635885"/>
                    <a:pt x="188341" y="2772283"/>
                    <a:pt x="358648" y="2772283"/>
                  </a:cubicBezTo>
                  <a:lnTo>
                    <a:pt x="6729095" y="2772283"/>
                  </a:lnTo>
                  <a:cubicBezTo>
                    <a:pt x="6899401" y="2772283"/>
                    <a:pt x="7036943" y="2635885"/>
                    <a:pt x="7036943" y="2468118"/>
                  </a:cubicBezTo>
                  <a:lnTo>
                    <a:pt x="7036943" y="354965"/>
                  </a:lnTo>
                  <a:cubicBezTo>
                    <a:pt x="7036943" y="187198"/>
                    <a:pt x="6899402" y="50800"/>
                    <a:pt x="6729095" y="50800"/>
                  </a:cubicBezTo>
                  <a:lnTo>
                    <a:pt x="358648" y="50800"/>
                  </a:lnTo>
                  <a:lnTo>
                    <a:pt x="358648" y="25400"/>
                  </a:lnTo>
                  <a:lnTo>
                    <a:pt x="358648" y="50800"/>
                  </a:lnTo>
                  <a:cubicBezTo>
                    <a:pt x="188341" y="50800"/>
                    <a:pt x="50800" y="187198"/>
                    <a:pt x="50800" y="354965"/>
                  </a:cubicBezTo>
                  <a:close/>
                </a:path>
              </a:pathLst>
            </a:custGeom>
            <a:solidFill>
              <a:srgbClr val="B4CCE3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273969" y="7708106"/>
            <a:ext cx="3433315" cy="4385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2700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RetinaFace Detector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73969" y="8220523"/>
            <a:ext cx="4652372" cy="951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9"/>
              </a:lnSpc>
            </a:pPr>
            <a:r>
              <a:rPr lang="en-US" sz="2100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Handles angles, poor lighting, partial occlusion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6485934" y="7385895"/>
            <a:ext cx="5315988" cy="2117379"/>
            <a:chOff x="0" y="0"/>
            <a:chExt cx="7087984" cy="282317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25400" y="25400"/>
              <a:ext cx="7037197" cy="2772283"/>
            </a:xfrm>
            <a:custGeom>
              <a:avLst/>
              <a:gdLst/>
              <a:ahLst/>
              <a:cxnLst/>
              <a:rect r="r" b="b" t="t" l="l"/>
              <a:pathLst>
                <a:path h="2772283" w="7037197">
                  <a:moveTo>
                    <a:pt x="0" y="329565"/>
                  </a:moveTo>
                  <a:cubicBezTo>
                    <a:pt x="0" y="147574"/>
                    <a:pt x="149225" y="0"/>
                    <a:pt x="333248" y="0"/>
                  </a:cubicBezTo>
                  <a:lnTo>
                    <a:pt x="6703949" y="0"/>
                  </a:lnTo>
                  <a:cubicBezTo>
                    <a:pt x="6887972" y="0"/>
                    <a:pt x="7037197" y="147574"/>
                    <a:pt x="7037197" y="329565"/>
                  </a:cubicBezTo>
                  <a:lnTo>
                    <a:pt x="7037197" y="2442718"/>
                  </a:lnTo>
                  <a:cubicBezTo>
                    <a:pt x="7037197" y="2624709"/>
                    <a:pt x="6887972" y="2772283"/>
                    <a:pt x="6703949" y="2772283"/>
                  </a:cubicBezTo>
                  <a:lnTo>
                    <a:pt x="333248" y="2772283"/>
                  </a:lnTo>
                  <a:cubicBezTo>
                    <a:pt x="149225" y="2772410"/>
                    <a:pt x="0" y="2624836"/>
                    <a:pt x="0" y="244271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087997" cy="2823083"/>
            </a:xfrm>
            <a:custGeom>
              <a:avLst/>
              <a:gdLst/>
              <a:ahLst/>
              <a:cxnLst/>
              <a:rect r="r" b="b" t="t" l="l"/>
              <a:pathLst>
                <a:path h="2823083" w="7087997">
                  <a:moveTo>
                    <a:pt x="0" y="354965"/>
                  </a:moveTo>
                  <a:cubicBezTo>
                    <a:pt x="0" y="158623"/>
                    <a:pt x="160782" y="0"/>
                    <a:pt x="358648" y="0"/>
                  </a:cubicBezTo>
                  <a:lnTo>
                    <a:pt x="6729349" y="0"/>
                  </a:lnTo>
                  <a:lnTo>
                    <a:pt x="6729349" y="25400"/>
                  </a:lnTo>
                  <a:lnTo>
                    <a:pt x="6729349" y="0"/>
                  </a:lnTo>
                  <a:cubicBezTo>
                    <a:pt x="6927215" y="0"/>
                    <a:pt x="7087997" y="158623"/>
                    <a:pt x="7087997" y="354965"/>
                  </a:cubicBezTo>
                  <a:lnTo>
                    <a:pt x="7062597" y="354965"/>
                  </a:lnTo>
                  <a:lnTo>
                    <a:pt x="7087997" y="354965"/>
                  </a:lnTo>
                  <a:lnTo>
                    <a:pt x="7087997" y="2468118"/>
                  </a:lnTo>
                  <a:lnTo>
                    <a:pt x="7062597" y="2468118"/>
                  </a:lnTo>
                  <a:lnTo>
                    <a:pt x="7087997" y="2468118"/>
                  </a:lnTo>
                  <a:cubicBezTo>
                    <a:pt x="7087997" y="2664460"/>
                    <a:pt x="6927215" y="2823083"/>
                    <a:pt x="6729349" y="2823083"/>
                  </a:cubicBezTo>
                  <a:lnTo>
                    <a:pt x="6729349" y="2797683"/>
                  </a:lnTo>
                  <a:lnTo>
                    <a:pt x="6729349" y="2823083"/>
                  </a:lnTo>
                  <a:lnTo>
                    <a:pt x="358648" y="2823083"/>
                  </a:lnTo>
                  <a:lnTo>
                    <a:pt x="358648" y="2797683"/>
                  </a:lnTo>
                  <a:lnTo>
                    <a:pt x="358648" y="2823083"/>
                  </a:lnTo>
                  <a:cubicBezTo>
                    <a:pt x="160782" y="2823210"/>
                    <a:pt x="0" y="2664460"/>
                    <a:pt x="0" y="2468118"/>
                  </a:cubicBezTo>
                  <a:lnTo>
                    <a:pt x="0" y="354965"/>
                  </a:lnTo>
                  <a:lnTo>
                    <a:pt x="25400" y="354965"/>
                  </a:lnTo>
                  <a:lnTo>
                    <a:pt x="0" y="354965"/>
                  </a:lnTo>
                  <a:moveTo>
                    <a:pt x="50800" y="354965"/>
                  </a:moveTo>
                  <a:lnTo>
                    <a:pt x="50800" y="2468118"/>
                  </a:lnTo>
                  <a:lnTo>
                    <a:pt x="25400" y="2468118"/>
                  </a:lnTo>
                  <a:lnTo>
                    <a:pt x="50800" y="2468118"/>
                  </a:lnTo>
                  <a:cubicBezTo>
                    <a:pt x="50800" y="2635885"/>
                    <a:pt x="188341" y="2772283"/>
                    <a:pt x="358648" y="2772283"/>
                  </a:cubicBezTo>
                  <a:lnTo>
                    <a:pt x="6729349" y="2772283"/>
                  </a:lnTo>
                  <a:cubicBezTo>
                    <a:pt x="6899656" y="2772283"/>
                    <a:pt x="7037197" y="2635885"/>
                    <a:pt x="7037197" y="2468118"/>
                  </a:cubicBezTo>
                  <a:lnTo>
                    <a:pt x="7037197" y="354965"/>
                  </a:lnTo>
                  <a:cubicBezTo>
                    <a:pt x="7037197" y="187198"/>
                    <a:pt x="6899656" y="50800"/>
                    <a:pt x="6729349" y="50800"/>
                  </a:cubicBezTo>
                  <a:lnTo>
                    <a:pt x="358648" y="50800"/>
                  </a:lnTo>
                  <a:lnTo>
                    <a:pt x="358648" y="25400"/>
                  </a:lnTo>
                  <a:lnTo>
                    <a:pt x="358648" y="50800"/>
                  </a:lnTo>
                  <a:cubicBezTo>
                    <a:pt x="188341" y="50800"/>
                    <a:pt x="50800" y="187198"/>
                    <a:pt x="50800" y="354965"/>
                  </a:cubicBezTo>
                  <a:close/>
                </a:path>
              </a:pathLst>
            </a:custGeom>
            <a:solidFill>
              <a:srgbClr val="B4CCE3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6817671" y="7708106"/>
            <a:ext cx="3433315" cy="4385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2700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ArcFace Model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817671" y="8220523"/>
            <a:ext cx="4652515" cy="951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9"/>
              </a:lnSpc>
            </a:pPr>
            <a:r>
              <a:rPr lang="en-US" sz="2100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512-dim embedding per photo. Raw photos deleted after generation.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2029780" y="7385895"/>
            <a:ext cx="5315988" cy="2117379"/>
            <a:chOff x="0" y="0"/>
            <a:chExt cx="7087984" cy="282317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25400" y="25400"/>
              <a:ext cx="7037197" cy="2772283"/>
            </a:xfrm>
            <a:custGeom>
              <a:avLst/>
              <a:gdLst/>
              <a:ahLst/>
              <a:cxnLst/>
              <a:rect r="r" b="b" t="t" l="l"/>
              <a:pathLst>
                <a:path h="2772283" w="7037197">
                  <a:moveTo>
                    <a:pt x="0" y="329565"/>
                  </a:moveTo>
                  <a:cubicBezTo>
                    <a:pt x="0" y="147574"/>
                    <a:pt x="149225" y="0"/>
                    <a:pt x="333248" y="0"/>
                  </a:cubicBezTo>
                  <a:lnTo>
                    <a:pt x="6703949" y="0"/>
                  </a:lnTo>
                  <a:cubicBezTo>
                    <a:pt x="6887972" y="0"/>
                    <a:pt x="7037197" y="147574"/>
                    <a:pt x="7037197" y="329565"/>
                  </a:cubicBezTo>
                  <a:lnTo>
                    <a:pt x="7037197" y="2442718"/>
                  </a:lnTo>
                  <a:cubicBezTo>
                    <a:pt x="7037197" y="2624709"/>
                    <a:pt x="6887972" y="2772283"/>
                    <a:pt x="6703949" y="2772283"/>
                  </a:cubicBezTo>
                  <a:lnTo>
                    <a:pt x="333248" y="2772283"/>
                  </a:lnTo>
                  <a:cubicBezTo>
                    <a:pt x="149225" y="2772410"/>
                    <a:pt x="0" y="2624836"/>
                    <a:pt x="0" y="244271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087997" cy="2823083"/>
            </a:xfrm>
            <a:custGeom>
              <a:avLst/>
              <a:gdLst/>
              <a:ahLst/>
              <a:cxnLst/>
              <a:rect r="r" b="b" t="t" l="l"/>
              <a:pathLst>
                <a:path h="2823083" w="7087997">
                  <a:moveTo>
                    <a:pt x="0" y="354965"/>
                  </a:moveTo>
                  <a:cubicBezTo>
                    <a:pt x="0" y="158623"/>
                    <a:pt x="160782" y="0"/>
                    <a:pt x="358648" y="0"/>
                  </a:cubicBezTo>
                  <a:lnTo>
                    <a:pt x="6729349" y="0"/>
                  </a:lnTo>
                  <a:lnTo>
                    <a:pt x="6729349" y="25400"/>
                  </a:lnTo>
                  <a:lnTo>
                    <a:pt x="6729349" y="0"/>
                  </a:lnTo>
                  <a:cubicBezTo>
                    <a:pt x="6927215" y="0"/>
                    <a:pt x="7087997" y="158623"/>
                    <a:pt x="7087997" y="354965"/>
                  </a:cubicBezTo>
                  <a:lnTo>
                    <a:pt x="7062597" y="354965"/>
                  </a:lnTo>
                  <a:lnTo>
                    <a:pt x="7087997" y="354965"/>
                  </a:lnTo>
                  <a:lnTo>
                    <a:pt x="7087997" y="2468118"/>
                  </a:lnTo>
                  <a:lnTo>
                    <a:pt x="7062597" y="2468118"/>
                  </a:lnTo>
                  <a:lnTo>
                    <a:pt x="7087997" y="2468118"/>
                  </a:lnTo>
                  <a:cubicBezTo>
                    <a:pt x="7087997" y="2664460"/>
                    <a:pt x="6927215" y="2823083"/>
                    <a:pt x="6729349" y="2823083"/>
                  </a:cubicBezTo>
                  <a:lnTo>
                    <a:pt x="6729349" y="2797683"/>
                  </a:lnTo>
                  <a:lnTo>
                    <a:pt x="6729349" y="2823083"/>
                  </a:lnTo>
                  <a:lnTo>
                    <a:pt x="358648" y="2823083"/>
                  </a:lnTo>
                  <a:lnTo>
                    <a:pt x="358648" y="2797683"/>
                  </a:lnTo>
                  <a:lnTo>
                    <a:pt x="358648" y="2823083"/>
                  </a:lnTo>
                  <a:cubicBezTo>
                    <a:pt x="160782" y="2823210"/>
                    <a:pt x="0" y="2664460"/>
                    <a:pt x="0" y="2468118"/>
                  </a:cubicBezTo>
                  <a:lnTo>
                    <a:pt x="0" y="354965"/>
                  </a:lnTo>
                  <a:lnTo>
                    <a:pt x="25400" y="354965"/>
                  </a:lnTo>
                  <a:lnTo>
                    <a:pt x="0" y="354965"/>
                  </a:lnTo>
                  <a:moveTo>
                    <a:pt x="50800" y="354965"/>
                  </a:moveTo>
                  <a:lnTo>
                    <a:pt x="50800" y="2468118"/>
                  </a:lnTo>
                  <a:lnTo>
                    <a:pt x="25400" y="2468118"/>
                  </a:lnTo>
                  <a:lnTo>
                    <a:pt x="50800" y="2468118"/>
                  </a:lnTo>
                  <a:cubicBezTo>
                    <a:pt x="50800" y="2635885"/>
                    <a:pt x="188341" y="2772283"/>
                    <a:pt x="358648" y="2772283"/>
                  </a:cubicBezTo>
                  <a:lnTo>
                    <a:pt x="6729349" y="2772283"/>
                  </a:lnTo>
                  <a:cubicBezTo>
                    <a:pt x="6899656" y="2772283"/>
                    <a:pt x="7037197" y="2635885"/>
                    <a:pt x="7037197" y="2468118"/>
                  </a:cubicBezTo>
                  <a:lnTo>
                    <a:pt x="7037197" y="354965"/>
                  </a:lnTo>
                  <a:cubicBezTo>
                    <a:pt x="7037197" y="187198"/>
                    <a:pt x="6899656" y="50800"/>
                    <a:pt x="6729349" y="50800"/>
                  </a:cubicBezTo>
                  <a:lnTo>
                    <a:pt x="358648" y="50800"/>
                  </a:lnTo>
                  <a:lnTo>
                    <a:pt x="358648" y="25400"/>
                  </a:lnTo>
                  <a:lnTo>
                    <a:pt x="358648" y="50800"/>
                  </a:lnTo>
                  <a:cubicBezTo>
                    <a:pt x="188341" y="50800"/>
                    <a:pt x="50800" y="187198"/>
                    <a:pt x="50800" y="354965"/>
                  </a:cubicBezTo>
                  <a:close/>
                </a:path>
              </a:pathLst>
            </a:custGeom>
            <a:solidFill>
              <a:srgbClr val="B4CCE3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2361516" y="7708106"/>
            <a:ext cx="3433315" cy="4385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2700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L2 / Cosine Match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361516" y="8220523"/>
            <a:ext cx="4652515" cy="951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9"/>
              </a:lnSpc>
            </a:pPr>
            <a:r>
              <a:rPr lang="en-US" sz="2100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Distance &lt; 12.0 = high confidence. QR code as parallel fallback.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EEE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30326" y="768248"/>
            <a:ext cx="7470277" cy="859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00"/>
              </a:lnSpc>
            </a:pPr>
            <a:r>
              <a:rPr lang="en-US" sz="5200">
                <a:solidFill>
                  <a:srgbClr val="091C5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The Multi-Agent Engine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30326" y="2049513"/>
            <a:ext cx="16427348" cy="488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sz="2000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Nine specialized agents. Real parallelism. Removing any one breaks the system — this is agentic AI, not a chatbot.</a:t>
            </a:r>
          </a:p>
        </p:txBody>
      </p:sp>
      <p:sp>
        <p:nvSpPr>
          <p:cNvPr name="Freeform 8" id="8" descr="preencoded.png"/>
          <p:cNvSpPr/>
          <p:nvPr/>
        </p:nvSpPr>
        <p:spPr>
          <a:xfrm flipH="false" flipV="false" rot="0">
            <a:off x="930326" y="2817914"/>
            <a:ext cx="531609" cy="531609"/>
          </a:xfrm>
          <a:custGeom>
            <a:avLst/>
            <a:gdLst/>
            <a:ahLst/>
            <a:cxnLst/>
            <a:rect r="r" b="b" t="t" l="l"/>
            <a:pathLst>
              <a:path h="531609" w="531609">
                <a:moveTo>
                  <a:pt x="0" y="0"/>
                </a:moveTo>
                <a:lnTo>
                  <a:pt x="531609" y="0"/>
                </a:lnTo>
                <a:lnTo>
                  <a:pt x="531609" y="531609"/>
                </a:lnTo>
                <a:lnTo>
                  <a:pt x="0" y="5316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4464" t="0" r="-4464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773441" y="2909145"/>
            <a:ext cx="3322587" cy="415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9"/>
              </a:lnSpc>
            </a:pPr>
            <a:r>
              <a:rPr lang="en-US" sz="2600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NER / Triage Agent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73441" y="3397748"/>
            <a:ext cx="7214740" cy="1312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sz="2000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Gemini 1.5 Flash extracts emergency type, bed type, specialist needed, and urgency from free-text companion input.</a:t>
            </a:r>
          </a:p>
        </p:txBody>
      </p:sp>
      <p:sp>
        <p:nvSpPr>
          <p:cNvPr name="Freeform 11" id="11" descr="preencoded.png"/>
          <p:cNvSpPr/>
          <p:nvPr/>
        </p:nvSpPr>
        <p:spPr>
          <a:xfrm flipH="false" flipV="false" rot="0">
            <a:off x="9299677" y="2817914"/>
            <a:ext cx="531609" cy="531609"/>
          </a:xfrm>
          <a:custGeom>
            <a:avLst/>
            <a:gdLst/>
            <a:ahLst/>
            <a:cxnLst/>
            <a:rect r="r" b="b" t="t" l="l"/>
            <a:pathLst>
              <a:path h="531609" w="531609">
                <a:moveTo>
                  <a:pt x="0" y="0"/>
                </a:moveTo>
                <a:lnTo>
                  <a:pt x="531609" y="0"/>
                </a:lnTo>
                <a:lnTo>
                  <a:pt x="531609" y="531609"/>
                </a:lnTo>
                <a:lnTo>
                  <a:pt x="0" y="5316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2678" r="0" b="-2678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0142782" y="2909145"/>
            <a:ext cx="3322587" cy="415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9"/>
              </a:lnSpc>
            </a:pPr>
            <a:r>
              <a:rPr lang="en-US" sz="2600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Orchestrator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142782" y="3397748"/>
            <a:ext cx="7214892" cy="900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sz="2000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Pulls nearby hospitals, spawns parallel worker agents — one per hospital — and coordinates all results.</a:t>
            </a:r>
          </a:p>
        </p:txBody>
      </p:sp>
      <p:sp>
        <p:nvSpPr>
          <p:cNvPr name="Freeform 14" id="14" descr="preencoded.png"/>
          <p:cNvSpPr/>
          <p:nvPr/>
        </p:nvSpPr>
        <p:spPr>
          <a:xfrm flipH="false" flipV="false" rot="0">
            <a:off x="930326" y="5208089"/>
            <a:ext cx="531609" cy="531609"/>
          </a:xfrm>
          <a:custGeom>
            <a:avLst/>
            <a:gdLst/>
            <a:ahLst/>
            <a:cxnLst/>
            <a:rect r="r" b="b" t="t" l="l"/>
            <a:pathLst>
              <a:path h="531609" w="531609">
                <a:moveTo>
                  <a:pt x="0" y="0"/>
                </a:moveTo>
                <a:lnTo>
                  <a:pt x="531609" y="0"/>
                </a:lnTo>
                <a:lnTo>
                  <a:pt x="531609" y="531609"/>
                </a:lnTo>
                <a:lnTo>
                  <a:pt x="0" y="5316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892" t="0" r="-894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773441" y="5299319"/>
            <a:ext cx="3322587" cy="415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9"/>
              </a:lnSpc>
            </a:pPr>
            <a:r>
              <a:rPr lang="en-US" sz="2600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Voice Agent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773441" y="5787923"/>
            <a:ext cx="7214740" cy="1312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sz="2000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Twilio places real call. Google TTS speaks. Google STT captures receptionist response. Gemini parses to JSON in English, Hindi, or Kannada.</a:t>
            </a:r>
          </a:p>
        </p:txBody>
      </p:sp>
      <p:sp>
        <p:nvSpPr>
          <p:cNvPr name="Freeform 17" id="17" descr="preencoded.png"/>
          <p:cNvSpPr/>
          <p:nvPr/>
        </p:nvSpPr>
        <p:spPr>
          <a:xfrm flipH="false" flipV="false" rot="0">
            <a:off x="9299677" y="5208089"/>
            <a:ext cx="531609" cy="531609"/>
          </a:xfrm>
          <a:custGeom>
            <a:avLst/>
            <a:gdLst/>
            <a:ahLst/>
            <a:cxnLst/>
            <a:rect r="r" b="b" t="t" l="l"/>
            <a:pathLst>
              <a:path h="531609" w="531609">
                <a:moveTo>
                  <a:pt x="0" y="0"/>
                </a:moveTo>
                <a:lnTo>
                  <a:pt x="531609" y="0"/>
                </a:lnTo>
                <a:lnTo>
                  <a:pt x="531609" y="531609"/>
                </a:lnTo>
                <a:lnTo>
                  <a:pt x="0" y="53160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13393" r="0" b="-13393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0142782" y="5299319"/>
            <a:ext cx="3322587" cy="415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9"/>
              </a:lnSpc>
            </a:pPr>
            <a:r>
              <a:rPr lang="en-US" sz="2600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Scoring Agent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142782" y="5787923"/>
            <a:ext cx="7214892" cy="1312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sz="2000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Drive time first. Specialist match as tiebreaker within 500m. Decision explained in plain English on every dashboard.</a:t>
            </a:r>
          </a:p>
        </p:txBody>
      </p:sp>
      <p:sp>
        <p:nvSpPr>
          <p:cNvPr name="Freeform 20" id="20" descr="preencoded.png"/>
          <p:cNvSpPr/>
          <p:nvPr/>
        </p:nvSpPr>
        <p:spPr>
          <a:xfrm flipH="false" flipV="false" rot="0">
            <a:off x="930326" y="7598273"/>
            <a:ext cx="531609" cy="531609"/>
          </a:xfrm>
          <a:custGeom>
            <a:avLst/>
            <a:gdLst/>
            <a:ahLst/>
            <a:cxnLst/>
            <a:rect r="r" b="b" t="t" l="l"/>
            <a:pathLst>
              <a:path h="531609" w="531609">
                <a:moveTo>
                  <a:pt x="0" y="0"/>
                </a:moveTo>
                <a:lnTo>
                  <a:pt x="531609" y="0"/>
                </a:lnTo>
                <a:lnTo>
                  <a:pt x="531609" y="531610"/>
                </a:lnTo>
                <a:lnTo>
                  <a:pt x="0" y="53161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66071" t="0" r="-66073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773441" y="7689504"/>
            <a:ext cx="3539881" cy="415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9"/>
              </a:lnSpc>
            </a:pPr>
            <a:r>
              <a:rPr lang="en-US" sz="2600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First Aid + Prep Agents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773441" y="8178108"/>
            <a:ext cx="7214740" cy="1312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sz="2000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Gemini gives bystanders condition-aware DOs and DON'Ts. Tells ambulance crew exactly what to prepare en route.</a:t>
            </a:r>
          </a:p>
        </p:txBody>
      </p:sp>
      <p:sp>
        <p:nvSpPr>
          <p:cNvPr name="Freeform 23" id="23" descr="preencoded.png"/>
          <p:cNvSpPr/>
          <p:nvPr/>
        </p:nvSpPr>
        <p:spPr>
          <a:xfrm flipH="false" flipV="false" rot="0">
            <a:off x="9299677" y="7598273"/>
            <a:ext cx="531609" cy="531609"/>
          </a:xfrm>
          <a:custGeom>
            <a:avLst/>
            <a:gdLst/>
            <a:ahLst/>
            <a:cxnLst/>
            <a:rect r="r" b="b" t="t" l="l"/>
            <a:pathLst>
              <a:path h="531609" w="531609">
                <a:moveTo>
                  <a:pt x="0" y="0"/>
                </a:moveTo>
                <a:lnTo>
                  <a:pt x="531609" y="0"/>
                </a:lnTo>
                <a:lnTo>
                  <a:pt x="531609" y="531610"/>
                </a:lnTo>
                <a:lnTo>
                  <a:pt x="0" y="53161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-1786" r="0" b="-1786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0142782" y="7689504"/>
            <a:ext cx="3322587" cy="415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9"/>
              </a:lnSpc>
            </a:pPr>
            <a:r>
              <a:rPr lang="en-US" sz="2600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Closer Agent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142782" y="8178108"/>
            <a:ext cx="7214892" cy="1312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sz="2000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Sends medical card + live condition to ER. Sends navigation to driver. Triggers Twilio SMS chain to emergency contacts.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EEE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14695" y="731491"/>
            <a:ext cx="13022609" cy="845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99"/>
              </a:lnSpc>
            </a:pPr>
            <a:r>
              <a:rPr lang="en-US" sz="5100">
                <a:solidFill>
                  <a:srgbClr val="091C5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Ambulance Assignment: Nearest ≠ Fastest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14695" y="3249063"/>
            <a:ext cx="8765229" cy="4966840"/>
            <a:chOff x="0" y="0"/>
            <a:chExt cx="11686972" cy="6622453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11686921" cy="6622415"/>
            </a:xfrm>
            <a:custGeom>
              <a:avLst/>
              <a:gdLst/>
              <a:ahLst/>
              <a:cxnLst/>
              <a:rect r="r" b="b" t="t" l="l"/>
              <a:pathLst>
                <a:path h="6622415" w="11686921">
                  <a:moveTo>
                    <a:pt x="0" y="0"/>
                  </a:moveTo>
                  <a:lnTo>
                    <a:pt x="11686921" y="0"/>
                  </a:lnTo>
                  <a:lnTo>
                    <a:pt x="11686921" y="6622415"/>
                  </a:lnTo>
                  <a:lnTo>
                    <a:pt x="0" y="66224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30" t="0" r="-31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0327034" y="2160089"/>
            <a:ext cx="5014912" cy="427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9"/>
              </a:lnSpc>
            </a:pPr>
            <a:r>
              <a:rPr lang="en-US" sz="2499">
                <a:solidFill>
                  <a:srgbClr val="091C5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Why Straight-Line Distance Fails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327034" y="2761659"/>
            <a:ext cx="7055644" cy="1271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0"/>
              </a:lnSpc>
            </a:pPr>
            <a:r>
              <a:rPr lang="en-US" sz="2000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One-way streets, traffic signals, construction, and congestion make straight-line math dangerous. KAIROS uses </a:t>
            </a:r>
            <a:r>
              <a:rPr lang="en-US" sz="2000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Google Distance Matrix API</a:t>
            </a:r>
            <a:r>
              <a:rPr lang="en-US" sz="2000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 with live traffic data.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0322271" y="4299642"/>
            <a:ext cx="7065169" cy="4101255"/>
            <a:chOff x="0" y="0"/>
            <a:chExt cx="9420225" cy="546834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420225" cy="5468366"/>
            </a:xfrm>
            <a:custGeom>
              <a:avLst/>
              <a:gdLst/>
              <a:ahLst/>
              <a:cxnLst/>
              <a:rect r="r" b="b" t="t" l="l"/>
              <a:pathLst>
                <a:path h="5468366" w="9420225">
                  <a:moveTo>
                    <a:pt x="0" y="320040"/>
                  </a:moveTo>
                  <a:cubicBezTo>
                    <a:pt x="0" y="143256"/>
                    <a:pt x="143383" y="0"/>
                    <a:pt x="320294" y="0"/>
                  </a:cubicBezTo>
                  <a:lnTo>
                    <a:pt x="9099931" y="0"/>
                  </a:lnTo>
                  <a:lnTo>
                    <a:pt x="9099931" y="6350"/>
                  </a:lnTo>
                  <a:lnTo>
                    <a:pt x="9099931" y="0"/>
                  </a:lnTo>
                  <a:cubicBezTo>
                    <a:pt x="9276842" y="0"/>
                    <a:pt x="9420225" y="143256"/>
                    <a:pt x="9420225" y="320040"/>
                  </a:cubicBezTo>
                  <a:lnTo>
                    <a:pt x="9413875" y="320040"/>
                  </a:lnTo>
                  <a:lnTo>
                    <a:pt x="9420225" y="320040"/>
                  </a:lnTo>
                  <a:lnTo>
                    <a:pt x="9420225" y="5148326"/>
                  </a:lnTo>
                  <a:lnTo>
                    <a:pt x="9413875" y="5148326"/>
                  </a:lnTo>
                  <a:lnTo>
                    <a:pt x="9420225" y="5148326"/>
                  </a:lnTo>
                  <a:cubicBezTo>
                    <a:pt x="9420225" y="5325110"/>
                    <a:pt x="9276842" y="5468366"/>
                    <a:pt x="9099931" y="5468366"/>
                  </a:cubicBezTo>
                  <a:lnTo>
                    <a:pt x="9099931" y="5462016"/>
                  </a:lnTo>
                  <a:lnTo>
                    <a:pt x="9099931" y="5468366"/>
                  </a:lnTo>
                  <a:lnTo>
                    <a:pt x="320294" y="5468366"/>
                  </a:lnTo>
                  <a:lnTo>
                    <a:pt x="320294" y="5462016"/>
                  </a:lnTo>
                  <a:lnTo>
                    <a:pt x="320294" y="5468366"/>
                  </a:lnTo>
                  <a:cubicBezTo>
                    <a:pt x="143383" y="5468366"/>
                    <a:pt x="0" y="5325110"/>
                    <a:pt x="0" y="5148326"/>
                  </a:cubicBezTo>
                  <a:lnTo>
                    <a:pt x="0" y="320040"/>
                  </a:lnTo>
                  <a:lnTo>
                    <a:pt x="6350" y="320040"/>
                  </a:lnTo>
                  <a:lnTo>
                    <a:pt x="0" y="320040"/>
                  </a:lnTo>
                  <a:moveTo>
                    <a:pt x="12700" y="320040"/>
                  </a:moveTo>
                  <a:lnTo>
                    <a:pt x="12700" y="5148326"/>
                  </a:lnTo>
                  <a:lnTo>
                    <a:pt x="6350" y="5148326"/>
                  </a:lnTo>
                  <a:lnTo>
                    <a:pt x="12700" y="5148326"/>
                  </a:lnTo>
                  <a:cubicBezTo>
                    <a:pt x="12700" y="5317998"/>
                    <a:pt x="150368" y="5455666"/>
                    <a:pt x="320294" y="5455666"/>
                  </a:cubicBezTo>
                  <a:lnTo>
                    <a:pt x="9099931" y="5455666"/>
                  </a:lnTo>
                  <a:cubicBezTo>
                    <a:pt x="9269857" y="5455666"/>
                    <a:pt x="9407525" y="5318125"/>
                    <a:pt x="9407525" y="5148326"/>
                  </a:cubicBezTo>
                  <a:lnTo>
                    <a:pt x="9407525" y="320040"/>
                  </a:lnTo>
                  <a:cubicBezTo>
                    <a:pt x="9407525" y="150368"/>
                    <a:pt x="9269857" y="12700"/>
                    <a:pt x="9099931" y="12700"/>
                  </a:cubicBezTo>
                  <a:lnTo>
                    <a:pt x="320294" y="12700"/>
                  </a:lnTo>
                  <a:lnTo>
                    <a:pt x="320294" y="6350"/>
                  </a:lnTo>
                  <a:lnTo>
                    <a:pt x="320294" y="12700"/>
                  </a:lnTo>
                  <a:cubicBezTo>
                    <a:pt x="150368" y="12700"/>
                    <a:pt x="12700" y="150241"/>
                    <a:pt x="12700" y="320040"/>
                  </a:cubicBez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597906" y="4401293"/>
            <a:ext cx="1231706" cy="468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0"/>
              </a:lnSpc>
            </a:pPr>
            <a:r>
              <a:rPr lang="en-US" sz="2000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Unit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361812" y="4401293"/>
            <a:ext cx="1226944" cy="870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0"/>
              </a:lnSpc>
            </a:pPr>
            <a:r>
              <a:rPr lang="en-US" sz="2000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Straight-Line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120965" y="4401293"/>
            <a:ext cx="1226944" cy="870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0"/>
              </a:lnSpc>
            </a:pPr>
            <a:r>
              <a:rPr lang="en-US" sz="2000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Actual Drive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5880109" y="4401293"/>
            <a:ext cx="1231706" cy="468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0"/>
              </a:lnSpc>
            </a:pPr>
            <a:r>
              <a:rPr lang="en-US" sz="2000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Decision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597906" y="5522271"/>
            <a:ext cx="1231706" cy="468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0"/>
              </a:lnSpc>
            </a:pPr>
            <a:r>
              <a:rPr lang="en-US" sz="2000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AMB-001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361812" y="5522271"/>
            <a:ext cx="1226944" cy="468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0"/>
              </a:lnSpc>
            </a:pPr>
            <a:r>
              <a:rPr lang="en-US" sz="2000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1.0 km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120965" y="5522271"/>
            <a:ext cx="1226944" cy="468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0"/>
              </a:lnSpc>
            </a:pPr>
            <a:r>
              <a:rPr lang="en-US" sz="2000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9 min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5880109" y="5522271"/>
            <a:ext cx="1231706" cy="468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0"/>
              </a:lnSpc>
            </a:pPr>
            <a:r>
              <a:rPr lang="en-US" sz="2000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Available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597906" y="6241552"/>
            <a:ext cx="1231706" cy="468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0"/>
              </a:lnSpc>
            </a:pPr>
            <a:r>
              <a:rPr lang="en-US" sz="2000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AMB-002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361812" y="6241552"/>
            <a:ext cx="1226944" cy="468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0"/>
              </a:lnSpc>
            </a:pPr>
            <a:r>
              <a:rPr lang="en-US" sz="2000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0.8 km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4120965" y="6241552"/>
            <a:ext cx="1226944" cy="468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0"/>
              </a:lnSpc>
            </a:pPr>
            <a:r>
              <a:rPr lang="en-US" sz="2000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BUSY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5880109" y="6241552"/>
            <a:ext cx="1231706" cy="870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0"/>
              </a:lnSpc>
            </a:pPr>
            <a:r>
              <a:rPr lang="en-US" sz="2000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Filtered Out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597906" y="7362530"/>
            <a:ext cx="1231706" cy="468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0"/>
              </a:lnSpc>
            </a:pPr>
            <a:r>
              <a:rPr lang="en-US" sz="2000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AMB-003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361812" y="7362530"/>
            <a:ext cx="1226944" cy="468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0"/>
              </a:lnSpc>
            </a:pPr>
            <a:r>
              <a:rPr lang="en-US" sz="2000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1.4 km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4120965" y="7362530"/>
            <a:ext cx="1226944" cy="468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0"/>
              </a:lnSpc>
            </a:pPr>
            <a:r>
              <a:rPr lang="en-US" sz="2000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4 min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5880109" y="7362530"/>
            <a:ext cx="1231706" cy="870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0"/>
              </a:lnSpc>
            </a:pPr>
            <a:r>
              <a:rPr lang="en-US" sz="2000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ASSIGNED ✓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327034" y="8610000"/>
            <a:ext cx="7055644" cy="700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600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ALS vs BLS capability filtering applied before distance scoring. Only available, qualified units compete.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EEE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7200900" cy="10287000"/>
            <a:chOff x="0" y="0"/>
            <a:chExt cx="96012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6012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664206" y="887016"/>
            <a:ext cx="9646739" cy="738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4500">
                <a:solidFill>
                  <a:srgbClr val="091C5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Google-Native. Real APIs. All Wired.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7664206" y="1906638"/>
            <a:ext cx="9817598" cy="6068016"/>
            <a:chOff x="0" y="0"/>
            <a:chExt cx="13090131" cy="809068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090144" cy="8090662"/>
            </a:xfrm>
            <a:custGeom>
              <a:avLst/>
              <a:gdLst/>
              <a:ahLst/>
              <a:cxnLst/>
              <a:rect r="r" b="b" t="t" l="l"/>
              <a:pathLst>
                <a:path h="8090662" w="13090144">
                  <a:moveTo>
                    <a:pt x="0" y="276479"/>
                  </a:moveTo>
                  <a:cubicBezTo>
                    <a:pt x="0" y="123825"/>
                    <a:pt x="123825" y="0"/>
                    <a:pt x="276479" y="0"/>
                  </a:cubicBezTo>
                  <a:lnTo>
                    <a:pt x="12813665" y="0"/>
                  </a:lnTo>
                  <a:cubicBezTo>
                    <a:pt x="12966319" y="0"/>
                    <a:pt x="13090144" y="123825"/>
                    <a:pt x="13090144" y="276479"/>
                  </a:cubicBezTo>
                  <a:lnTo>
                    <a:pt x="13090144" y="7814183"/>
                  </a:lnTo>
                  <a:cubicBezTo>
                    <a:pt x="13090144" y="7966837"/>
                    <a:pt x="12966319" y="8090662"/>
                    <a:pt x="12813665" y="8090662"/>
                  </a:cubicBezTo>
                  <a:lnTo>
                    <a:pt x="276479" y="8090662"/>
                  </a:lnTo>
                  <a:cubicBezTo>
                    <a:pt x="123825" y="8090662"/>
                    <a:pt x="0" y="7966964"/>
                    <a:pt x="0" y="7814183"/>
                  </a:cubicBezTo>
                  <a:close/>
                </a:path>
              </a:pathLst>
            </a:custGeom>
            <a:solidFill>
              <a:srgbClr val="CEE6FD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7664206" y="1906638"/>
            <a:ext cx="9817598" cy="1600495"/>
            <a:chOff x="0" y="0"/>
            <a:chExt cx="13090131" cy="213399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090271" cy="2134108"/>
            </a:xfrm>
            <a:custGeom>
              <a:avLst/>
              <a:gdLst/>
              <a:ahLst/>
              <a:cxnLst/>
              <a:rect r="r" b="b" t="t" l="l"/>
              <a:pathLst>
                <a:path h="2134108" w="13090271">
                  <a:moveTo>
                    <a:pt x="0" y="276479"/>
                  </a:moveTo>
                  <a:cubicBezTo>
                    <a:pt x="0" y="123825"/>
                    <a:pt x="123825" y="0"/>
                    <a:pt x="276479" y="0"/>
                  </a:cubicBezTo>
                  <a:lnTo>
                    <a:pt x="12813792" y="0"/>
                  </a:lnTo>
                  <a:cubicBezTo>
                    <a:pt x="12966446" y="0"/>
                    <a:pt x="13090271" y="123825"/>
                    <a:pt x="13090271" y="276479"/>
                  </a:cubicBezTo>
                  <a:lnTo>
                    <a:pt x="13090271" y="1857629"/>
                  </a:lnTo>
                  <a:cubicBezTo>
                    <a:pt x="13090271" y="2010283"/>
                    <a:pt x="12966446" y="2134108"/>
                    <a:pt x="12813792" y="2134108"/>
                  </a:cubicBezTo>
                  <a:lnTo>
                    <a:pt x="276479" y="2134108"/>
                  </a:lnTo>
                  <a:cubicBezTo>
                    <a:pt x="123825" y="2133981"/>
                    <a:pt x="0" y="2010283"/>
                    <a:pt x="0" y="1857502"/>
                  </a:cubicBezTo>
                  <a:close/>
                </a:path>
              </a:pathLst>
            </a:custGeom>
            <a:solidFill>
              <a:srgbClr val="CEE6FD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7894444" y="2117827"/>
            <a:ext cx="2879522" cy="378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2200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Google AI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894444" y="2561330"/>
            <a:ext cx="9357122" cy="715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0"/>
              </a:lnSpc>
            </a:pPr>
            <a:r>
              <a:rPr lang="en-US" sz="1800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Gemini 1.5 Flash across all 9 agents. Google STT/TTS for voice calls. $5 credits covers 500+ demo runs.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7664206" y="3507134"/>
            <a:ext cx="9817598" cy="1266530"/>
            <a:chOff x="0" y="0"/>
            <a:chExt cx="13090131" cy="168870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3090144" cy="1688719"/>
            </a:xfrm>
            <a:custGeom>
              <a:avLst/>
              <a:gdLst/>
              <a:ahLst/>
              <a:cxnLst/>
              <a:rect r="r" b="b" t="t" l="l"/>
              <a:pathLst>
                <a:path h="1688719" w="13090144">
                  <a:moveTo>
                    <a:pt x="0" y="0"/>
                  </a:moveTo>
                  <a:lnTo>
                    <a:pt x="13090144" y="0"/>
                  </a:lnTo>
                  <a:lnTo>
                    <a:pt x="13090144" y="1688719"/>
                  </a:lnTo>
                  <a:lnTo>
                    <a:pt x="0" y="1688719"/>
                  </a:lnTo>
                  <a:close/>
                </a:path>
              </a:pathLst>
            </a:custGeom>
            <a:solidFill>
              <a:srgbClr val="CEE6FD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7664206" y="3507134"/>
            <a:ext cx="9817598" cy="28575"/>
            <a:chOff x="0" y="0"/>
            <a:chExt cx="13090131" cy="381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3090144" cy="38100"/>
            </a:xfrm>
            <a:custGeom>
              <a:avLst/>
              <a:gdLst/>
              <a:ahLst/>
              <a:cxnLst/>
              <a:rect r="r" b="b" t="t" l="l"/>
              <a:pathLst>
                <a:path h="38100" w="13090144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13071094" y="0"/>
                  </a:lnTo>
                  <a:cubicBezTo>
                    <a:pt x="13081634" y="0"/>
                    <a:pt x="13090144" y="8509"/>
                    <a:pt x="13090144" y="19050"/>
                  </a:cubicBezTo>
                  <a:cubicBezTo>
                    <a:pt x="13090144" y="29591"/>
                    <a:pt x="13081634" y="38100"/>
                    <a:pt x="13071094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B4CCE3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7894444" y="3718322"/>
            <a:ext cx="2879522" cy="378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2200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Google Maps Suite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894444" y="4161825"/>
            <a:ext cx="9357122" cy="381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0"/>
              </a:lnSpc>
            </a:pPr>
            <a:r>
              <a:rPr lang="en-US" sz="1800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Maps JS API · Distance Matrix API (live traffic) · Directions API · Geocoding API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7664206" y="4773663"/>
            <a:ext cx="9817598" cy="1600495"/>
            <a:chOff x="0" y="0"/>
            <a:chExt cx="13090131" cy="213399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3090144" cy="2133981"/>
            </a:xfrm>
            <a:custGeom>
              <a:avLst/>
              <a:gdLst/>
              <a:ahLst/>
              <a:cxnLst/>
              <a:rect r="r" b="b" t="t" l="l"/>
              <a:pathLst>
                <a:path h="2133981" w="13090144">
                  <a:moveTo>
                    <a:pt x="0" y="0"/>
                  </a:moveTo>
                  <a:lnTo>
                    <a:pt x="13090144" y="0"/>
                  </a:lnTo>
                  <a:lnTo>
                    <a:pt x="13090144" y="2133981"/>
                  </a:lnTo>
                  <a:lnTo>
                    <a:pt x="0" y="2133981"/>
                  </a:lnTo>
                  <a:close/>
                </a:path>
              </a:pathLst>
            </a:custGeom>
            <a:solidFill>
              <a:srgbClr val="CEE6FD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7664206" y="4773663"/>
            <a:ext cx="9817598" cy="28575"/>
            <a:chOff x="0" y="0"/>
            <a:chExt cx="13090131" cy="381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3090144" cy="38100"/>
            </a:xfrm>
            <a:custGeom>
              <a:avLst/>
              <a:gdLst/>
              <a:ahLst/>
              <a:cxnLst/>
              <a:rect r="r" b="b" t="t" l="l"/>
              <a:pathLst>
                <a:path h="38100" w="13090144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13071094" y="0"/>
                  </a:lnTo>
                  <a:cubicBezTo>
                    <a:pt x="13081634" y="0"/>
                    <a:pt x="13090144" y="8509"/>
                    <a:pt x="13090144" y="19050"/>
                  </a:cubicBezTo>
                  <a:cubicBezTo>
                    <a:pt x="13090144" y="29591"/>
                    <a:pt x="13081634" y="38100"/>
                    <a:pt x="13071094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B4CCE3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7894444" y="4984852"/>
            <a:ext cx="2879522" cy="378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2200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Twilio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894444" y="5428355"/>
            <a:ext cx="9357122" cy="715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0"/>
              </a:lnSpc>
            </a:pPr>
            <a:r>
              <a:rPr lang="en-US" sz="1800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Real voice calls to hospital reception. SMS alerts to emergency contacts at every status change.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7664206" y="6374159"/>
            <a:ext cx="9817598" cy="1600495"/>
            <a:chOff x="0" y="0"/>
            <a:chExt cx="13090131" cy="2133994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3090144" cy="2133981"/>
            </a:xfrm>
            <a:custGeom>
              <a:avLst/>
              <a:gdLst/>
              <a:ahLst/>
              <a:cxnLst/>
              <a:rect r="r" b="b" t="t" l="l"/>
              <a:pathLst>
                <a:path h="2133981" w="13090144">
                  <a:moveTo>
                    <a:pt x="0" y="0"/>
                  </a:moveTo>
                  <a:lnTo>
                    <a:pt x="13090144" y="0"/>
                  </a:lnTo>
                  <a:lnTo>
                    <a:pt x="13090144" y="2133981"/>
                  </a:lnTo>
                  <a:lnTo>
                    <a:pt x="0" y="2133981"/>
                  </a:lnTo>
                  <a:close/>
                </a:path>
              </a:pathLst>
            </a:custGeom>
            <a:solidFill>
              <a:srgbClr val="CEE6FD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7664206" y="6374159"/>
            <a:ext cx="9817598" cy="28575"/>
            <a:chOff x="0" y="0"/>
            <a:chExt cx="13090131" cy="381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3090144" cy="38100"/>
            </a:xfrm>
            <a:custGeom>
              <a:avLst/>
              <a:gdLst/>
              <a:ahLst/>
              <a:cxnLst/>
              <a:rect r="r" b="b" t="t" l="l"/>
              <a:pathLst>
                <a:path h="38100" w="13090144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13071094" y="0"/>
                  </a:lnTo>
                  <a:cubicBezTo>
                    <a:pt x="13081634" y="0"/>
                    <a:pt x="13090144" y="8509"/>
                    <a:pt x="13090144" y="19050"/>
                  </a:cubicBezTo>
                  <a:cubicBezTo>
                    <a:pt x="13090144" y="29591"/>
                    <a:pt x="13081634" y="38100"/>
                    <a:pt x="13071094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B4CCE3"/>
            </a:solid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7894444" y="6585347"/>
            <a:ext cx="2975667" cy="378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2200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Supabase + DeepFace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7894444" y="7028859"/>
            <a:ext cx="9357122" cy="715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0"/>
              </a:lnSpc>
            </a:pPr>
            <a:r>
              <a:rPr lang="en-US" sz="1800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PostgreSQL stores profiles and 512-dim ArcFace embeddings. Local model: free, offline-capable, zero latency.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7664206" y="8185099"/>
            <a:ext cx="9817598" cy="1195835"/>
            <a:chOff x="0" y="0"/>
            <a:chExt cx="13090131" cy="1594447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3090144" cy="1594485"/>
            </a:xfrm>
            <a:custGeom>
              <a:avLst/>
              <a:gdLst/>
              <a:ahLst/>
              <a:cxnLst/>
              <a:rect r="r" b="b" t="t" l="l"/>
              <a:pathLst>
                <a:path h="1594485" w="13090144">
                  <a:moveTo>
                    <a:pt x="0" y="276479"/>
                  </a:moveTo>
                  <a:cubicBezTo>
                    <a:pt x="0" y="123825"/>
                    <a:pt x="123825" y="0"/>
                    <a:pt x="276479" y="0"/>
                  </a:cubicBezTo>
                  <a:lnTo>
                    <a:pt x="12813665" y="0"/>
                  </a:lnTo>
                  <a:cubicBezTo>
                    <a:pt x="12966319" y="0"/>
                    <a:pt x="13090144" y="123825"/>
                    <a:pt x="13090144" y="276479"/>
                  </a:cubicBezTo>
                  <a:lnTo>
                    <a:pt x="13090144" y="1318006"/>
                  </a:lnTo>
                  <a:cubicBezTo>
                    <a:pt x="13090144" y="1470660"/>
                    <a:pt x="12966319" y="1594485"/>
                    <a:pt x="12813665" y="1594485"/>
                  </a:cubicBezTo>
                  <a:lnTo>
                    <a:pt x="276479" y="1594485"/>
                  </a:lnTo>
                  <a:cubicBezTo>
                    <a:pt x="123825" y="1594485"/>
                    <a:pt x="0" y="1470660"/>
                    <a:pt x="0" y="1318006"/>
                  </a:cubicBezTo>
                  <a:close/>
                </a:path>
              </a:pathLst>
            </a:custGeom>
            <a:solidFill>
              <a:srgbClr val="B6D6FC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7894444" y="8518922"/>
            <a:ext cx="287836" cy="230238"/>
            <a:chOff x="0" y="0"/>
            <a:chExt cx="383781" cy="306984"/>
          </a:xfrm>
        </p:grpSpPr>
        <p:sp>
          <p:nvSpPr>
            <p:cNvPr name="Freeform 36" id="36" descr="preencoded.png"/>
            <p:cNvSpPr/>
            <p:nvPr/>
          </p:nvSpPr>
          <p:spPr>
            <a:xfrm flipH="false" flipV="false" rot="0">
              <a:off x="0" y="0"/>
              <a:ext cx="383794" cy="306959"/>
            </a:xfrm>
            <a:custGeom>
              <a:avLst/>
              <a:gdLst/>
              <a:ahLst/>
              <a:cxnLst/>
              <a:rect r="r" b="b" t="t" l="l"/>
              <a:pathLst>
                <a:path h="306959" w="383794">
                  <a:moveTo>
                    <a:pt x="0" y="0"/>
                  </a:moveTo>
                  <a:lnTo>
                    <a:pt x="383794" y="0"/>
                  </a:lnTo>
                  <a:lnTo>
                    <a:pt x="383794" y="306959"/>
                  </a:lnTo>
                  <a:lnTo>
                    <a:pt x="0" y="3069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8" r="3" b="-12"/>
              </a:stretch>
            </a:blipFill>
          </p:spPr>
        </p:sp>
      </p:grpSp>
      <p:sp>
        <p:nvSpPr>
          <p:cNvPr name="TextBox 37" id="37"/>
          <p:cNvSpPr txBox="true"/>
          <p:nvPr/>
        </p:nvSpPr>
        <p:spPr>
          <a:xfrm rot="0">
            <a:off x="8412509" y="8382000"/>
            <a:ext cx="8839048" cy="715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0"/>
              </a:lnSpc>
            </a:pPr>
            <a:r>
              <a:rPr lang="en-US" sz="1800">
                <a:solidFill>
                  <a:srgbClr val="000000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Built with Google Antigravity scaffolding. Deployed via Next.js + FastAPI. Exposed to judges via ngrok during live demo.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EEE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2724598" y="547688"/>
            <a:ext cx="5621979" cy="600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3600">
                <a:solidFill>
                  <a:srgbClr val="091C5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Live Demo: The Full Chain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2724598" y="1392288"/>
            <a:ext cx="12838805" cy="5777360"/>
            <a:chOff x="0" y="0"/>
            <a:chExt cx="17118406" cy="7703147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17118457" cy="7703185"/>
            </a:xfrm>
            <a:custGeom>
              <a:avLst/>
              <a:gdLst/>
              <a:ahLst/>
              <a:cxnLst/>
              <a:rect r="r" b="b" t="t" l="l"/>
              <a:pathLst>
                <a:path h="7703185" w="17118457">
                  <a:moveTo>
                    <a:pt x="0" y="0"/>
                  </a:moveTo>
                  <a:lnTo>
                    <a:pt x="17118457" y="0"/>
                  </a:lnTo>
                  <a:lnTo>
                    <a:pt x="17118457" y="7703185"/>
                  </a:lnTo>
                  <a:lnTo>
                    <a:pt x="0" y="77031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3" r="0" b="-33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4658601" y="1651502"/>
            <a:ext cx="2246747" cy="375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100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Bystander Photo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658601" y="2145078"/>
            <a:ext cx="2246747" cy="440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700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Capture victim image on-scene</a:t>
            </a:r>
          </a:p>
        </p:txBody>
      </p:sp>
      <p:sp>
        <p:nvSpPr>
          <p:cNvPr name="Freeform 11" id="11" descr="preencoded.png"/>
          <p:cNvSpPr/>
          <p:nvPr/>
        </p:nvSpPr>
        <p:spPr>
          <a:xfrm flipH="false" flipV="false" rot="0">
            <a:off x="5539321" y="3206201"/>
            <a:ext cx="497653" cy="497653"/>
          </a:xfrm>
          <a:custGeom>
            <a:avLst/>
            <a:gdLst/>
            <a:ahLst/>
            <a:cxnLst/>
            <a:rect r="r" b="b" t="t" l="l"/>
            <a:pathLst>
              <a:path h="497653" w="497653">
                <a:moveTo>
                  <a:pt x="0" y="0"/>
                </a:moveTo>
                <a:lnTo>
                  <a:pt x="497653" y="0"/>
                </a:lnTo>
                <a:lnTo>
                  <a:pt x="497653" y="497652"/>
                </a:lnTo>
                <a:lnTo>
                  <a:pt x="0" y="49765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1321" t="0" r="-11319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6880660" y="5984519"/>
            <a:ext cx="2259092" cy="375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100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Face Match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880660" y="6478095"/>
            <a:ext cx="2259092" cy="440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700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Return medical card under 10s</a:t>
            </a:r>
          </a:p>
        </p:txBody>
      </p:sp>
      <p:sp>
        <p:nvSpPr>
          <p:cNvPr name="Freeform 14" id="14" descr="preencoded.png"/>
          <p:cNvSpPr/>
          <p:nvPr/>
        </p:nvSpPr>
        <p:spPr>
          <a:xfrm flipH="false" flipV="false" rot="0">
            <a:off x="7761380" y="5020885"/>
            <a:ext cx="497653" cy="497653"/>
          </a:xfrm>
          <a:custGeom>
            <a:avLst/>
            <a:gdLst/>
            <a:ahLst/>
            <a:cxnLst/>
            <a:rect r="r" b="b" t="t" l="l"/>
            <a:pathLst>
              <a:path h="497653" w="497653">
                <a:moveTo>
                  <a:pt x="0" y="0"/>
                </a:moveTo>
                <a:lnTo>
                  <a:pt x="497652" y="0"/>
                </a:lnTo>
                <a:lnTo>
                  <a:pt x="497652" y="497652"/>
                </a:lnTo>
                <a:lnTo>
                  <a:pt x="0" y="49765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9078030" y="1434694"/>
            <a:ext cx="2246747" cy="722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100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Ambulance Dispatch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078030" y="2275475"/>
            <a:ext cx="2246747" cy="440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700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Assign via Distance Matrix API</a:t>
            </a:r>
          </a:p>
        </p:txBody>
      </p:sp>
      <p:sp>
        <p:nvSpPr>
          <p:cNvPr name="Freeform 17" id="17" descr="preencoded.png"/>
          <p:cNvSpPr/>
          <p:nvPr/>
        </p:nvSpPr>
        <p:spPr>
          <a:xfrm flipH="false" flipV="false" rot="0">
            <a:off x="9995792" y="3156823"/>
            <a:ext cx="497653" cy="497653"/>
          </a:xfrm>
          <a:custGeom>
            <a:avLst/>
            <a:gdLst/>
            <a:ahLst/>
            <a:cxnLst/>
            <a:rect r="r" b="b" t="t" l="l"/>
            <a:pathLst>
              <a:path h="497653" w="497653">
                <a:moveTo>
                  <a:pt x="0" y="0"/>
                </a:moveTo>
                <a:lnTo>
                  <a:pt x="497653" y="0"/>
                </a:lnTo>
                <a:lnTo>
                  <a:pt x="497653" y="497653"/>
                </a:lnTo>
                <a:lnTo>
                  <a:pt x="0" y="49765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7546" t="0" r="-7546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1300098" y="5984519"/>
            <a:ext cx="2246747" cy="375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100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Live Call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300098" y="6478095"/>
            <a:ext cx="2246747" cy="440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700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Voice agent calls reception live</a:t>
            </a:r>
          </a:p>
        </p:txBody>
      </p:sp>
      <p:sp>
        <p:nvSpPr>
          <p:cNvPr name="Freeform 20" id="20" descr="preencoded.png"/>
          <p:cNvSpPr/>
          <p:nvPr/>
        </p:nvSpPr>
        <p:spPr>
          <a:xfrm flipH="false" flipV="false" rot="0">
            <a:off x="12180818" y="5020885"/>
            <a:ext cx="497653" cy="497653"/>
          </a:xfrm>
          <a:custGeom>
            <a:avLst/>
            <a:gdLst/>
            <a:ahLst/>
            <a:cxnLst/>
            <a:rect r="r" b="b" t="t" l="l"/>
            <a:pathLst>
              <a:path h="497653" w="497653">
                <a:moveTo>
                  <a:pt x="0" y="0"/>
                </a:moveTo>
                <a:lnTo>
                  <a:pt x="497652" y="0"/>
                </a:lnTo>
                <a:lnTo>
                  <a:pt x="497652" y="497652"/>
                </a:lnTo>
                <a:lnTo>
                  <a:pt x="0" y="49765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2590648" y="7307018"/>
            <a:ext cx="6460331" cy="2413102"/>
            <a:chOff x="0" y="0"/>
            <a:chExt cx="8613775" cy="321746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613775" cy="3217418"/>
            </a:xfrm>
            <a:custGeom>
              <a:avLst/>
              <a:gdLst/>
              <a:ahLst/>
              <a:cxnLst/>
              <a:rect r="r" b="b" t="t" l="l"/>
              <a:pathLst>
                <a:path h="3217418" w="8613775">
                  <a:moveTo>
                    <a:pt x="0" y="357251"/>
                  </a:moveTo>
                  <a:cubicBezTo>
                    <a:pt x="0" y="159893"/>
                    <a:pt x="159893" y="0"/>
                    <a:pt x="357251" y="0"/>
                  </a:cubicBezTo>
                  <a:lnTo>
                    <a:pt x="8256524" y="0"/>
                  </a:lnTo>
                  <a:cubicBezTo>
                    <a:pt x="8453882" y="0"/>
                    <a:pt x="8613775" y="159893"/>
                    <a:pt x="8613775" y="357251"/>
                  </a:cubicBezTo>
                  <a:lnTo>
                    <a:pt x="8613775" y="2860167"/>
                  </a:lnTo>
                  <a:cubicBezTo>
                    <a:pt x="8613775" y="3057525"/>
                    <a:pt x="8453882" y="3217418"/>
                    <a:pt x="8256524" y="3217418"/>
                  </a:cubicBezTo>
                  <a:lnTo>
                    <a:pt x="357251" y="3217418"/>
                  </a:lnTo>
                  <a:cubicBezTo>
                    <a:pt x="159893" y="3217418"/>
                    <a:pt x="0" y="3057525"/>
                    <a:pt x="0" y="2860167"/>
                  </a:cubicBezTo>
                  <a:close/>
                </a:path>
              </a:pathLst>
            </a:custGeom>
            <a:solidFill>
              <a:srgbClr val="84C1FA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2776690" y="7429052"/>
            <a:ext cx="2851099" cy="29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9"/>
              </a:lnSpc>
            </a:pPr>
            <a:r>
              <a:rPr lang="en-US" sz="1800">
                <a:solidFill>
                  <a:srgbClr val="091C5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What Judges Will See Live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776690" y="7813177"/>
            <a:ext cx="6088256" cy="1635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37820" indent="-168910" lvl="1">
              <a:lnSpc>
                <a:spcPts val="1900"/>
              </a:lnSpc>
              <a:buFont typeface="Arial"/>
              <a:buChar char="•"/>
            </a:pPr>
            <a:r>
              <a:rPr lang="en-US" sz="1399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Real Twilio call placed to a friend playing hospital reception</a:t>
            </a:r>
          </a:p>
          <a:p>
            <a:pPr algn="l" marL="337820" indent="-168910" lvl="1">
              <a:lnSpc>
                <a:spcPts val="1900"/>
              </a:lnSpc>
              <a:buFont typeface="Arial"/>
              <a:buChar char="•"/>
            </a:pPr>
            <a:r>
              <a:rPr lang="en-US" sz="1399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Natural speech parsed by Google STT + Gemini into structured JSON on screen</a:t>
            </a:r>
          </a:p>
          <a:p>
            <a:pPr algn="l" marL="337820" indent="-168910" lvl="1">
              <a:lnSpc>
                <a:spcPts val="1900"/>
              </a:lnSpc>
              <a:buFont typeface="Arial"/>
              <a:buChar char="•"/>
            </a:pPr>
            <a:r>
              <a:rPr lang="en-US" sz="1399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Driver's phone GPS updating live on hospital dashboard map</a:t>
            </a:r>
          </a:p>
          <a:p>
            <a:pPr algn="l" marL="337820" indent="-168910" lvl="1">
              <a:lnSpc>
                <a:spcPts val="1900"/>
              </a:lnSpc>
              <a:buFont typeface="Arial"/>
              <a:buChar char="•"/>
            </a:pPr>
            <a:r>
              <a:rPr lang="en-US" sz="1399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SMS delivered to emergency contact on a third phone, shown to judges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380487" y="7429052"/>
            <a:ext cx="3385985" cy="29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9"/>
              </a:lnSpc>
            </a:pPr>
            <a:r>
              <a:rPr lang="en-US" sz="1800">
                <a:solidFill>
                  <a:srgbClr val="091C5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Why Mock Calls Are a Strength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380487" y="7813177"/>
            <a:ext cx="6192441" cy="767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00"/>
              </a:lnSpc>
            </a:pPr>
            <a:r>
              <a:rPr lang="en-US" sz="1399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Natural human speech is </a:t>
            </a:r>
            <a:r>
              <a:rPr lang="en-US" sz="1399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more ambiguous</a:t>
            </a:r>
            <a:r>
              <a:rPr lang="en-US" sz="1399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 than a robot response. Our friends improvise. Gemini still parses correctly. In production: real hospital numbers. The technical proof is complete.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9380487" y="8718499"/>
            <a:ext cx="6192441" cy="864241"/>
            <a:chOff x="0" y="0"/>
            <a:chExt cx="8256588" cy="115232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256524" cy="1152271"/>
            </a:xfrm>
            <a:custGeom>
              <a:avLst/>
              <a:gdLst/>
              <a:ahLst/>
              <a:cxnLst/>
              <a:rect r="r" b="b" t="t" l="l"/>
              <a:pathLst>
                <a:path h="1152271" w="8256524">
                  <a:moveTo>
                    <a:pt x="0" y="223266"/>
                  </a:moveTo>
                  <a:cubicBezTo>
                    <a:pt x="0" y="99949"/>
                    <a:pt x="99949" y="0"/>
                    <a:pt x="223266" y="0"/>
                  </a:cubicBezTo>
                  <a:lnTo>
                    <a:pt x="8033258" y="0"/>
                  </a:lnTo>
                  <a:cubicBezTo>
                    <a:pt x="8156575" y="0"/>
                    <a:pt x="8256524" y="99949"/>
                    <a:pt x="8256524" y="223266"/>
                  </a:cubicBezTo>
                  <a:lnTo>
                    <a:pt x="8256524" y="929005"/>
                  </a:lnTo>
                  <a:cubicBezTo>
                    <a:pt x="8256524" y="1052322"/>
                    <a:pt x="8156575" y="1152271"/>
                    <a:pt x="8033258" y="1152271"/>
                  </a:cubicBezTo>
                  <a:lnTo>
                    <a:pt x="223266" y="1152271"/>
                  </a:lnTo>
                  <a:cubicBezTo>
                    <a:pt x="99949" y="1152271"/>
                    <a:pt x="0" y="1052322"/>
                    <a:pt x="0" y="929005"/>
                  </a:cubicBezTo>
                  <a:close/>
                </a:path>
              </a:pathLst>
            </a:custGeom>
            <a:solidFill>
              <a:srgbClr val="B6FCB8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9566519" y="8969131"/>
            <a:ext cx="232467" cy="186033"/>
            <a:chOff x="0" y="0"/>
            <a:chExt cx="309956" cy="248044"/>
          </a:xfrm>
        </p:grpSpPr>
        <p:sp>
          <p:nvSpPr>
            <p:cNvPr name="Freeform 30" id="30" descr="preencoded.png"/>
            <p:cNvSpPr/>
            <p:nvPr/>
          </p:nvSpPr>
          <p:spPr>
            <a:xfrm flipH="false" flipV="false" rot="0">
              <a:off x="0" y="0"/>
              <a:ext cx="310007" cy="248031"/>
            </a:xfrm>
            <a:custGeom>
              <a:avLst/>
              <a:gdLst/>
              <a:ahLst/>
              <a:cxnLst/>
              <a:rect r="r" b="b" t="t" l="l"/>
              <a:pathLst>
                <a:path h="248031" w="310007">
                  <a:moveTo>
                    <a:pt x="0" y="0"/>
                  </a:moveTo>
                  <a:lnTo>
                    <a:pt x="310007" y="0"/>
                  </a:lnTo>
                  <a:lnTo>
                    <a:pt x="310007" y="248031"/>
                  </a:lnTo>
                  <a:lnTo>
                    <a:pt x="0" y="2480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-2068" r="16" b="-2073"/>
              </a:stretch>
            </a:blip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9985029" y="8858402"/>
            <a:ext cx="5401866" cy="521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00"/>
              </a:lnSpc>
            </a:pPr>
            <a:r>
              <a:rPr lang="en-US" sz="1399">
                <a:solidFill>
                  <a:srgbClr val="000000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Every API in this demo is real. The only substitution is humans playing hospital staff — making the AI's job harder, not easier.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EEE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1019023"/>
            <a:ext cx="9705232" cy="914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00"/>
              </a:lnSpc>
            </a:pPr>
            <a:r>
              <a:rPr lang="en-US" sz="5500">
                <a:solidFill>
                  <a:srgbClr val="091C5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The Three Unfair Advantages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73188" y="2481558"/>
            <a:ext cx="5283546" cy="4459043"/>
            <a:chOff x="0" y="0"/>
            <a:chExt cx="7044728" cy="594539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25400" y="25400"/>
              <a:ext cx="6994017" cy="5894578"/>
            </a:xfrm>
            <a:custGeom>
              <a:avLst/>
              <a:gdLst/>
              <a:ahLst/>
              <a:cxnLst/>
              <a:rect r="r" b="b" t="t" l="l"/>
              <a:pathLst>
                <a:path h="5894578" w="6994017">
                  <a:moveTo>
                    <a:pt x="0" y="243840"/>
                  </a:moveTo>
                  <a:cubicBezTo>
                    <a:pt x="0" y="109220"/>
                    <a:pt x="109347" y="0"/>
                    <a:pt x="244221" y="0"/>
                  </a:cubicBezTo>
                  <a:lnTo>
                    <a:pt x="6749796" y="0"/>
                  </a:lnTo>
                  <a:cubicBezTo>
                    <a:pt x="6884670" y="0"/>
                    <a:pt x="6994017" y="109220"/>
                    <a:pt x="6994017" y="243840"/>
                  </a:cubicBezTo>
                  <a:lnTo>
                    <a:pt x="6994017" y="5650738"/>
                  </a:lnTo>
                  <a:cubicBezTo>
                    <a:pt x="6994017" y="5785358"/>
                    <a:pt x="6884670" y="5894578"/>
                    <a:pt x="6749796" y="5894578"/>
                  </a:cubicBezTo>
                  <a:lnTo>
                    <a:pt x="244221" y="5894578"/>
                  </a:lnTo>
                  <a:cubicBezTo>
                    <a:pt x="109347" y="5894578"/>
                    <a:pt x="0" y="5785358"/>
                    <a:pt x="0" y="565073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044690" cy="5945378"/>
            </a:xfrm>
            <a:custGeom>
              <a:avLst/>
              <a:gdLst/>
              <a:ahLst/>
              <a:cxnLst/>
              <a:rect r="r" b="b" t="t" l="l"/>
              <a:pathLst>
                <a:path h="5945378" w="7044690">
                  <a:moveTo>
                    <a:pt x="0" y="269240"/>
                  </a:moveTo>
                  <a:cubicBezTo>
                    <a:pt x="0" y="120523"/>
                    <a:pt x="120777" y="0"/>
                    <a:pt x="269621" y="0"/>
                  </a:cubicBezTo>
                  <a:lnTo>
                    <a:pt x="6775196" y="0"/>
                  </a:lnTo>
                  <a:lnTo>
                    <a:pt x="6775196" y="25400"/>
                  </a:lnTo>
                  <a:lnTo>
                    <a:pt x="6775196" y="0"/>
                  </a:lnTo>
                  <a:cubicBezTo>
                    <a:pt x="6924040" y="0"/>
                    <a:pt x="7044690" y="120523"/>
                    <a:pt x="7044690" y="269240"/>
                  </a:cubicBezTo>
                  <a:lnTo>
                    <a:pt x="7019290" y="269240"/>
                  </a:lnTo>
                  <a:lnTo>
                    <a:pt x="7044690" y="269240"/>
                  </a:lnTo>
                  <a:lnTo>
                    <a:pt x="7044690" y="5676138"/>
                  </a:lnTo>
                  <a:lnTo>
                    <a:pt x="7019290" y="5676138"/>
                  </a:lnTo>
                  <a:lnTo>
                    <a:pt x="7044690" y="5676138"/>
                  </a:lnTo>
                  <a:cubicBezTo>
                    <a:pt x="7044690" y="5824855"/>
                    <a:pt x="6923913" y="5945378"/>
                    <a:pt x="6775069" y="5945378"/>
                  </a:cubicBezTo>
                  <a:lnTo>
                    <a:pt x="6775069" y="5919978"/>
                  </a:lnTo>
                  <a:lnTo>
                    <a:pt x="6775069" y="5945378"/>
                  </a:lnTo>
                  <a:lnTo>
                    <a:pt x="269621" y="5945378"/>
                  </a:lnTo>
                  <a:lnTo>
                    <a:pt x="269621" y="5919978"/>
                  </a:lnTo>
                  <a:lnTo>
                    <a:pt x="269621" y="5945378"/>
                  </a:lnTo>
                  <a:cubicBezTo>
                    <a:pt x="120777" y="5945378"/>
                    <a:pt x="0" y="5824855"/>
                    <a:pt x="0" y="5676138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5676138"/>
                  </a:lnTo>
                  <a:lnTo>
                    <a:pt x="25400" y="5676138"/>
                  </a:lnTo>
                  <a:lnTo>
                    <a:pt x="50800" y="5676138"/>
                  </a:lnTo>
                  <a:cubicBezTo>
                    <a:pt x="50800" y="5796788"/>
                    <a:pt x="148717" y="5894578"/>
                    <a:pt x="269621" y="5894578"/>
                  </a:cubicBezTo>
                  <a:lnTo>
                    <a:pt x="6775196" y="5894578"/>
                  </a:lnTo>
                  <a:cubicBezTo>
                    <a:pt x="6896100" y="5894578"/>
                    <a:pt x="6994017" y="5796788"/>
                    <a:pt x="6994017" y="5676138"/>
                  </a:cubicBezTo>
                  <a:lnTo>
                    <a:pt x="6994017" y="269240"/>
                  </a:lnTo>
                  <a:cubicBezTo>
                    <a:pt x="6994017" y="148590"/>
                    <a:pt x="6896100" y="50800"/>
                    <a:pt x="6775196" y="50800"/>
                  </a:cubicBezTo>
                  <a:lnTo>
                    <a:pt x="269621" y="50800"/>
                  </a:lnTo>
                  <a:lnTo>
                    <a:pt x="269621" y="25400"/>
                  </a:lnTo>
                  <a:lnTo>
                    <a:pt x="269621" y="50800"/>
                  </a:lnTo>
                  <a:cubicBezTo>
                    <a:pt x="148717" y="50800"/>
                    <a:pt x="50800" y="148590"/>
                    <a:pt x="50800" y="269240"/>
                  </a:cubicBezTo>
                  <a:close/>
                </a:path>
              </a:pathLst>
            </a:custGeom>
            <a:solidFill>
              <a:srgbClr val="B4CCE3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54138" y="2500608"/>
            <a:ext cx="152400" cy="4420943"/>
            <a:chOff x="0" y="0"/>
            <a:chExt cx="203200" cy="589459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03200" cy="5894578"/>
            </a:xfrm>
            <a:custGeom>
              <a:avLst/>
              <a:gdLst/>
              <a:ahLst/>
              <a:cxnLst/>
              <a:rect r="r" b="b" t="t" l="l"/>
              <a:pathLst>
                <a:path h="5894578" w="203200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cubicBezTo>
                    <a:pt x="157734" y="0"/>
                    <a:pt x="203200" y="45466"/>
                    <a:pt x="203200" y="101600"/>
                  </a:cubicBezTo>
                  <a:lnTo>
                    <a:pt x="203200" y="5792978"/>
                  </a:lnTo>
                  <a:cubicBezTo>
                    <a:pt x="203200" y="5849112"/>
                    <a:pt x="157734" y="5894578"/>
                    <a:pt x="101600" y="5894578"/>
                  </a:cubicBezTo>
                  <a:cubicBezTo>
                    <a:pt x="45466" y="5894578"/>
                    <a:pt x="0" y="5849112"/>
                    <a:pt x="0" y="5792978"/>
                  </a:cubicBezTo>
                  <a:close/>
                </a:path>
              </a:pathLst>
            </a:custGeom>
            <a:solidFill>
              <a:srgbClr val="84C1FA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428150" y="2812704"/>
            <a:ext cx="3861349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9"/>
              </a:lnSpc>
            </a:pPr>
            <a:r>
              <a:rPr lang="en-US" sz="2700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Voice Calls to Hospitals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28150" y="3339998"/>
            <a:ext cx="4487913" cy="2817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200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No hospital-side integration required. Every hospital already has a phone. The cultural taboo around automating human calls is exactly what makes this defensible against copycats.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6502156" y="2481558"/>
            <a:ext cx="5283546" cy="4459043"/>
            <a:chOff x="0" y="0"/>
            <a:chExt cx="7044728" cy="594539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25400" y="25400"/>
              <a:ext cx="6994017" cy="5894578"/>
            </a:xfrm>
            <a:custGeom>
              <a:avLst/>
              <a:gdLst/>
              <a:ahLst/>
              <a:cxnLst/>
              <a:rect r="r" b="b" t="t" l="l"/>
              <a:pathLst>
                <a:path h="5894578" w="6994017">
                  <a:moveTo>
                    <a:pt x="0" y="243840"/>
                  </a:moveTo>
                  <a:cubicBezTo>
                    <a:pt x="0" y="109220"/>
                    <a:pt x="109347" y="0"/>
                    <a:pt x="244221" y="0"/>
                  </a:cubicBezTo>
                  <a:lnTo>
                    <a:pt x="6749796" y="0"/>
                  </a:lnTo>
                  <a:cubicBezTo>
                    <a:pt x="6884670" y="0"/>
                    <a:pt x="6994017" y="109220"/>
                    <a:pt x="6994017" y="243840"/>
                  </a:cubicBezTo>
                  <a:lnTo>
                    <a:pt x="6994017" y="5650738"/>
                  </a:lnTo>
                  <a:cubicBezTo>
                    <a:pt x="6994017" y="5785358"/>
                    <a:pt x="6884670" y="5894578"/>
                    <a:pt x="6749796" y="5894578"/>
                  </a:cubicBezTo>
                  <a:lnTo>
                    <a:pt x="244221" y="5894578"/>
                  </a:lnTo>
                  <a:cubicBezTo>
                    <a:pt x="109347" y="5894578"/>
                    <a:pt x="0" y="5785358"/>
                    <a:pt x="0" y="565073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044690" cy="5945378"/>
            </a:xfrm>
            <a:custGeom>
              <a:avLst/>
              <a:gdLst/>
              <a:ahLst/>
              <a:cxnLst/>
              <a:rect r="r" b="b" t="t" l="l"/>
              <a:pathLst>
                <a:path h="5945378" w="7044690">
                  <a:moveTo>
                    <a:pt x="0" y="269240"/>
                  </a:moveTo>
                  <a:cubicBezTo>
                    <a:pt x="0" y="120523"/>
                    <a:pt x="120777" y="0"/>
                    <a:pt x="269621" y="0"/>
                  </a:cubicBezTo>
                  <a:lnTo>
                    <a:pt x="6775196" y="0"/>
                  </a:lnTo>
                  <a:lnTo>
                    <a:pt x="6775196" y="25400"/>
                  </a:lnTo>
                  <a:lnTo>
                    <a:pt x="6775196" y="0"/>
                  </a:lnTo>
                  <a:cubicBezTo>
                    <a:pt x="6924040" y="0"/>
                    <a:pt x="7044690" y="120523"/>
                    <a:pt x="7044690" y="269240"/>
                  </a:cubicBezTo>
                  <a:lnTo>
                    <a:pt x="7019290" y="269240"/>
                  </a:lnTo>
                  <a:lnTo>
                    <a:pt x="7044690" y="269240"/>
                  </a:lnTo>
                  <a:lnTo>
                    <a:pt x="7044690" y="5676138"/>
                  </a:lnTo>
                  <a:lnTo>
                    <a:pt x="7019290" y="5676138"/>
                  </a:lnTo>
                  <a:lnTo>
                    <a:pt x="7044690" y="5676138"/>
                  </a:lnTo>
                  <a:cubicBezTo>
                    <a:pt x="7044690" y="5824855"/>
                    <a:pt x="6923913" y="5945378"/>
                    <a:pt x="6775069" y="5945378"/>
                  </a:cubicBezTo>
                  <a:lnTo>
                    <a:pt x="6775069" y="5919978"/>
                  </a:lnTo>
                  <a:lnTo>
                    <a:pt x="6775069" y="5945378"/>
                  </a:lnTo>
                  <a:lnTo>
                    <a:pt x="269621" y="5945378"/>
                  </a:lnTo>
                  <a:lnTo>
                    <a:pt x="269621" y="5919978"/>
                  </a:lnTo>
                  <a:lnTo>
                    <a:pt x="269621" y="5945378"/>
                  </a:lnTo>
                  <a:cubicBezTo>
                    <a:pt x="120777" y="5945378"/>
                    <a:pt x="0" y="5824855"/>
                    <a:pt x="0" y="5676138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5676138"/>
                  </a:lnTo>
                  <a:lnTo>
                    <a:pt x="25400" y="5676138"/>
                  </a:lnTo>
                  <a:lnTo>
                    <a:pt x="50800" y="5676138"/>
                  </a:lnTo>
                  <a:cubicBezTo>
                    <a:pt x="50800" y="5796788"/>
                    <a:pt x="148717" y="5894578"/>
                    <a:pt x="269621" y="5894578"/>
                  </a:cubicBezTo>
                  <a:lnTo>
                    <a:pt x="6775196" y="5894578"/>
                  </a:lnTo>
                  <a:cubicBezTo>
                    <a:pt x="6896100" y="5894578"/>
                    <a:pt x="6994017" y="5796788"/>
                    <a:pt x="6994017" y="5676138"/>
                  </a:cubicBezTo>
                  <a:lnTo>
                    <a:pt x="6994017" y="269240"/>
                  </a:lnTo>
                  <a:cubicBezTo>
                    <a:pt x="6994017" y="148590"/>
                    <a:pt x="6896100" y="50800"/>
                    <a:pt x="6775196" y="50800"/>
                  </a:cubicBezTo>
                  <a:lnTo>
                    <a:pt x="269621" y="50800"/>
                  </a:lnTo>
                  <a:lnTo>
                    <a:pt x="269621" y="25400"/>
                  </a:lnTo>
                  <a:lnTo>
                    <a:pt x="269621" y="50800"/>
                  </a:lnTo>
                  <a:cubicBezTo>
                    <a:pt x="148717" y="50800"/>
                    <a:pt x="50800" y="148590"/>
                    <a:pt x="50800" y="269240"/>
                  </a:cubicBezTo>
                  <a:close/>
                </a:path>
              </a:pathLst>
            </a:custGeom>
            <a:solidFill>
              <a:srgbClr val="B4CCE3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6483106" y="2500608"/>
            <a:ext cx="152400" cy="4420943"/>
            <a:chOff x="0" y="0"/>
            <a:chExt cx="203200" cy="589459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03200" cy="5894578"/>
            </a:xfrm>
            <a:custGeom>
              <a:avLst/>
              <a:gdLst/>
              <a:ahLst/>
              <a:cxnLst/>
              <a:rect r="r" b="b" t="t" l="l"/>
              <a:pathLst>
                <a:path h="5894578" w="203200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cubicBezTo>
                    <a:pt x="157734" y="0"/>
                    <a:pt x="203200" y="45466"/>
                    <a:pt x="203200" y="101600"/>
                  </a:cubicBezTo>
                  <a:lnTo>
                    <a:pt x="203200" y="5792978"/>
                  </a:lnTo>
                  <a:cubicBezTo>
                    <a:pt x="203200" y="5849112"/>
                    <a:pt x="157734" y="5894578"/>
                    <a:pt x="101600" y="5894578"/>
                  </a:cubicBezTo>
                  <a:cubicBezTo>
                    <a:pt x="45466" y="5894578"/>
                    <a:pt x="0" y="5849112"/>
                    <a:pt x="0" y="5792978"/>
                  </a:cubicBezTo>
                  <a:close/>
                </a:path>
              </a:pathLst>
            </a:custGeom>
            <a:solidFill>
              <a:srgbClr val="84C1FA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6957117" y="2812704"/>
            <a:ext cx="3544043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9"/>
              </a:lnSpc>
            </a:pPr>
            <a:r>
              <a:rPr lang="en-US" sz="2700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Full Loop Ownership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957117" y="3339998"/>
            <a:ext cx="4487913" cy="2817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200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No incumbent owns victim identification through to ER pre-briefing. KAIROS is the neutral agent connecting all existing silos — identity, ambulance, beds, family, ER team.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2031113" y="2481558"/>
            <a:ext cx="5283546" cy="4459043"/>
            <a:chOff x="0" y="0"/>
            <a:chExt cx="7044728" cy="594539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25400" y="25400"/>
              <a:ext cx="6994017" cy="5894578"/>
            </a:xfrm>
            <a:custGeom>
              <a:avLst/>
              <a:gdLst/>
              <a:ahLst/>
              <a:cxnLst/>
              <a:rect r="r" b="b" t="t" l="l"/>
              <a:pathLst>
                <a:path h="5894578" w="6994017">
                  <a:moveTo>
                    <a:pt x="0" y="243840"/>
                  </a:moveTo>
                  <a:cubicBezTo>
                    <a:pt x="0" y="109220"/>
                    <a:pt x="109347" y="0"/>
                    <a:pt x="244221" y="0"/>
                  </a:cubicBezTo>
                  <a:lnTo>
                    <a:pt x="6749796" y="0"/>
                  </a:lnTo>
                  <a:cubicBezTo>
                    <a:pt x="6884670" y="0"/>
                    <a:pt x="6994017" y="109220"/>
                    <a:pt x="6994017" y="243840"/>
                  </a:cubicBezTo>
                  <a:lnTo>
                    <a:pt x="6994017" y="5650738"/>
                  </a:lnTo>
                  <a:cubicBezTo>
                    <a:pt x="6994017" y="5785358"/>
                    <a:pt x="6884670" y="5894578"/>
                    <a:pt x="6749796" y="5894578"/>
                  </a:cubicBezTo>
                  <a:lnTo>
                    <a:pt x="244221" y="5894578"/>
                  </a:lnTo>
                  <a:cubicBezTo>
                    <a:pt x="109347" y="5894578"/>
                    <a:pt x="0" y="5785358"/>
                    <a:pt x="0" y="565073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044690" cy="5945378"/>
            </a:xfrm>
            <a:custGeom>
              <a:avLst/>
              <a:gdLst/>
              <a:ahLst/>
              <a:cxnLst/>
              <a:rect r="r" b="b" t="t" l="l"/>
              <a:pathLst>
                <a:path h="5945378" w="7044690">
                  <a:moveTo>
                    <a:pt x="0" y="269240"/>
                  </a:moveTo>
                  <a:cubicBezTo>
                    <a:pt x="0" y="120523"/>
                    <a:pt x="120777" y="0"/>
                    <a:pt x="269621" y="0"/>
                  </a:cubicBezTo>
                  <a:lnTo>
                    <a:pt x="6775196" y="0"/>
                  </a:lnTo>
                  <a:lnTo>
                    <a:pt x="6775196" y="25400"/>
                  </a:lnTo>
                  <a:lnTo>
                    <a:pt x="6775196" y="0"/>
                  </a:lnTo>
                  <a:cubicBezTo>
                    <a:pt x="6924040" y="0"/>
                    <a:pt x="7044690" y="120523"/>
                    <a:pt x="7044690" y="269240"/>
                  </a:cubicBezTo>
                  <a:lnTo>
                    <a:pt x="7019290" y="269240"/>
                  </a:lnTo>
                  <a:lnTo>
                    <a:pt x="7044690" y="269240"/>
                  </a:lnTo>
                  <a:lnTo>
                    <a:pt x="7044690" y="5676138"/>
                  </a:lnTo>
                  <a:lnTo>
                    <a:pt x="7019290" y="5676138"/>
                  </a:lnTo>
                  <a:lnTo>
                    <a:pt x="7044690" y="5676138"/>
                  </a:lnTo>
                  <a:cubicBezTo>
                    <a:pt x="7044690" y="5824855"/>
                    <a:pt x="6923913" y="5945378"/>
                    <a:pt x="6775069" y="5945378"/>
                  </a:cubicBezTo>
                  <a:lnTo>
                    <a:pt x="6775069" y="5919978"/>
                  </a:lnTo>
                  <a:lnTo>
                    <a:pt x="6775069" y="5945378"/>
                  </a:lnTo>
                  <a:lnTo>
                    <a:pt x="269621" y="5945378"/>
                  </a:lnTo>
                  <a:lnTo>
                    <a:pt x="269621" y="5919978"/>
                  </a:lnTo>
                  <a:lnTo>
                    <a:pt x="269621" y="5945378"/>
                  </a:lnTo>
                  <a:cubicBezTo>
                    <a:pt x="120777" y="5945378"/>
                    <a:pt x="0" y="5824855"/>
                    <a:pt x="0" y="5676138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5676138"/>
                  </a:lnTo>
                  <a:lnTo>
                    <a:pt x="25400" y="5676138"/>
                  </a:lnTo>
                  <a:lnTo>
                    <a:pt x="50800" y="5676138"/>
                  </a:lnTo>
                  <a:cubicBezTo>
                    <a:pt x="50800" y="5796788"/>
                    <a:pt x="148717" y="5894578"/>
                    <a:pt x="269621" y="5894578"/>
                  </a:cubicBezTo>
                  <a:lnTo>
                    <a:pt x="6775196" y="5894578"/>
                  </a:lnTo>
                  <a:cubicBezTo>
                    <a:pt x="6896100" y="5894578"/>
                    <a:pt x="6994017" y="5796788"/>
                    <a:pt x="6994017" y="5676138"/>
                  </a:cubicBezTo>
                  <a:lnTo>
                    <a:pt x="6994017" y="269240"/>
                  </a:lnTo>
                  <a:cubicBezTo>
                    <a:pt x="6994017" y="148590"/>
                    <a:pt x="6896100" y="50800"/>
                    <a:pt x="6775196" y="50800"/>
                  </a:cubicBezTo>
                  <a:lnTo>
                    <a:pt x="269621" y="50800"/>
                  </a:lnTo>
                  <a:lnTo>
                    <a:pt x="269621" y="25400"/>
                  </a:lnTo>
                  <a:lnTo>
                    <a:pt x="269621" y="50800"/>
                  </a:lnTo>
                  <a:cubicBezTo>
                    <a:pt x="148717" y="50800"/>
                    <a:pt x="50800" y="148590"/>
                    <a:pt x="50800" y="269240"/>
                  </a:cubicBezTo>
                  <a:close/>
                </a:path>
              </a:pathLst>
            </a:custGeom>
            <a:solidFill>
              <a:srgbClr val="B4CCE3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2012063" y="2500608"/>
            <a:ext cx="152400" cy="4420943"/>
            <a:chOff x="0" y="0"/>
            <a:chExt cx="203200" cy="589459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03200" cy="5894578"/>
            </a:xfrm>
            <a:custGeom>
              <a:avLst/>
              <a:gdLst/>
              <a:ahLst/>
              <a:cxnLst/>
              <a:rect r="r" b="b" t="t" l="l"/>
              <a:pathLst>
                <a:path h="5894578" w="203200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cubicBezTo>
                    <a:pt x="157734" y="0"/>
                    <a:pt x="203200" y="45466"/>
                    <a:pt x="203200" y="101600"/>
                  </a:cubicBezTo>
                  <a:lnTo>
                    <a:pt x="203200" y="5792978"/>
                  </a:lnTo>
                  <a:cubicBezTo>
                    <a:pt x="203200" y="5849112"/>
                    <a:pt x="157734" y="5894578"/>
                    <a:pt x="101600" y="5894578"/>
                  </a:cubicBezTo>
                  <a:cubicBezTo>
                    <a:pt x="45466" y="5894578"/>
                    <a:pt x="0" y="5849112"/>
                    <a:pt x="0" y="5792978"/>
                  </a:cubicBezTo>
                  <a:close/>
                </a:path>
              </a:pathLst>
            </a:custGeom>
            <a:solidFill>
              <a:srgbClr val="84C1FA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12486084" y="2812704"/>
            <a:ext cx="4487913" cy="89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9"/>
              </a:lnSpc>
            </a:pPr>
            <a:r>
              <a:rPr lang="en-US" sz="2700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Google-Native Architecture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486084" y="3782911"/>
            <a:ext cx="4487913" cy="2817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200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Gemini · Google Maps · Google STT/TTS · Distance Matrix · Google Antigravity. For a Google hackathon, this is not just good practice — it is a strategic advantage.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417444" y="7464181"/>
            <a:ext cx="15878327" cy="1456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200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When someone is found unconscious, a bystander photographs them — KAIROS identifies the victim, pulls their medical card, assigns the fastest ambulance, calls hospitals to verify a bed is actually available, and briefs the ER team. All autonomously. Before the ambulance arrives.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992238" y="7240486"/>
            <a:ext cx="38100" cy="1998764"/>
            <a:chOff x="0" y="0"/>
            <a:chExt cx="50800" cy="2665019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0800" cy="2664968"/>
            </a:xfrm>
            <a:custGeom>
              <a:avLst/>
              <a:gdLst/>
              <a:ahLst/>
              <a:cxnLst/>
              <a:rect r="r" b="b" t="t" l="l"/>
              <a:pathLst>
                <a:path h="2664968" w="50800">
                  <a:moveTo>
                    <a:pt x="0" y="0"/>
                  </a:moveTo>
                  <a:lnTo>
                    <a:pt x="50800" y="0"/>
                  </a:lnTo>
                  <a:lnTo>
                    <a:pt x="50800" y="2664968"/>
                  </a:lnTo>
                  <a:lnTo>
                    <a:pt x="0" y="2664968"/>
                  </a:lnTo>
                  <a:close/>
                </a:path>
              </a:pathLst>
            </a:custGeom>
            <a:solidFill>
              <a:srgbClr val="84C1FA"/>
            </a:solid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DAHJJ1l1wjk</dc:identifier>
  <dcterms:modified xsi:type="dcterms:W3CDTF">2011-08-01T06:04:30Z</dcterms:modified>
  <cp:revision>1</cp:revision>
</cp:coreProperties>
</file>